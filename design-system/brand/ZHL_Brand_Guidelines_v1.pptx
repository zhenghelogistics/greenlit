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087"/>
        </a:solidFill>
      </p:bgPr>
    </p:bg>
    <p:spTree>
      <p:nvGrpSpPr>
        <p:cNvPr id="1" name=""/>
        <p:cNvGrpSpPr/>
        <p:nvPr/>
      </p:nvGrpSpPr>
      <p:grpSpPr>
        <a:xfrm>
          <a:off x="0" y="0"/>
          <a:ext cx="0" cy="0"/>
          <a:chOff x="0" y="0"/>
          <a:chExt cx="0" cy="0"/>
        </a:xfrm>
      </p:grpSpPr>
      <p:sp>
        <p:nvSpPr>
          <p:cNvPr id="2" name="Shape 0"/>
          <p:cNvSpPr/>
          <p:nvPr/>
        </p:nvSpPr>
        <p:spPr>
          <a:xfrm>
            <a:off x="310896" y="310896"/>
            <a:ext cx="8522208" cy="4521708"/>
          </a:xfrm>
          <a:prstGeom prst="rect">
            <a:avLst/>
          </a:prstGeom>
          <a:solidFill>
            <a:srgbClr val="003087">
              <a:alpha val="0"/>
            </a:srgbClr>
          </a:solidFill>
          <a:ln w="9525">
            <a:solidFill>
              <a:srgbClr val="B5D4F4">
                <a:alpha val="55000"/>
              </a:srgbClr>
            </a:solidFill>
            <a:prstDash val="solid"/>
          </a:ln>
        </p:spPr>
      </p:sp>
      <p:pic>
        <p:nvPicPr>
          <p:cNvPr id="3" name="Image 0" descr="assets/zhl-logo-lockup-white-2400px.png">    </p:cNvPr>
          <p:cNvPicPr>
            <a:picLocks noChangeAspect="1"/>
          </p:cNvPicPr>
          <p:nvPr/>
        </p:nvPicPr>
        <p:blipFill>
          <a:blip r:embed="rId1"/>
          <a:stretch>
            <a:fillRect/>
          </a:stretch>
        </p:blipFill>
        <p:spPr>
          <a:xfrm>
            <a:off x="2651760" y="1097280"/>
            <a:ext cx="3840480" cy="1036930"/>
          </a:xfrm>
          <a:prstGeom prst="rect">
            <a:avLst/>
          </a:prstGeom>
        </p:spPr>
      </p:pic>
      <p:sp>
        <p:nvSpPr>
          <p:cNvPr id="4" name="Text 1"/>
          <p:cNvSpPr/>
          <p:nvPr/>
        </p:nvSpPr>
        <p:spPr>
          <a:xfrm>
            <a:off x="0" y="2651760"/>
            <a:ext cx="9144000" cy="548640"/>
          </a:xfrm>
          <a:prstGeom prst="rect">
            <a:avLst/>
          </a:prstGeom>
          <a:noFill/>
          <a:ln/>
        </p:spPr>
        <p:txBody>
          <a:bodyPr wrap="square" rtlCol="0" anchor="ctr"/>
          <a:lstStyle/>
          <a:p>
            <a:pPr algn="ctr" indent="0" marL="0">
              <a:buNone/>
            </a:pPr>
            <a:r>
              <a:rPr lang="en-US" sz="3000" b="1" spc="600" kern="0" dirty="0">
                <a:solidFill>
                  <a:srgbClr val="FFFFFF"/>
                </a:solidFill>
                <a:latin typeface="Arial" pitchFamily="34" charset="0"/>
                <a:ea typeface="Arial" pitchFamily="34" charset="-122"/>
                <a:cs typeface="Arial" pitchFamily="34" charset="-120"/>
              </a:rPr>
              <a:t>BRAND GUIDELINES</a:t>
            </a:r>
            <a:endParaRPr lang="en-US" sz="3000" dirty="0"/>
          </a:p>
        </p:txBody>
      </p:sp>
      <p:sp>
        <p:nvSpPr>
          <p:cNvPr id="5" name="Text 2"/>
          <p:cNvSpPr/>
          <p:nvPr/>
        </p:nvSpPr>
        <p:spPr>
          <a:xfrm>
            <a:off x="0" y="3246120"/>
            <a:ext cx="9144000" cy="457200"/>
          </a:xfrm>
          <a:prstGeom prst="rect">
            <a:avLst/>
          </a:prstGeom>
          <a:noFill/>
          <a:ln/>
        </p:spPr>
        <p:txBody>
          <a:bodyPr wrap="square" rtlCol="0" anchor="ctr"/>
          <a:lstStyle/>
          <a:p>
            <a:pPr algn="ctr" indent="0" marL="0">
              <a:buNone/>
            </a:pPr>
            <a:r>
              <a:rPr lang="en-US" sz="2100" i="1" dirty="0">
                <a:solidFill>
                  <a:srgbClr val="FFFFFF"/>
                </a:solidFill>
                <a:latin typeface="Arial" pitchFamily="34" charset="0"/>
                <a:ea typeface="Arial" pitchFamily="34" charset="-122"/>
                <a:cs typeface="Arial" pitchFamily="34" charset="-120"/>
              </a:rPr>
              <a:t>From Singapore to the World.</a:t>
            </a:r>
            <a:endParaRPr lang="en-US" sz="2100" dirty="0"/>
          </a:p>
        </p:txBody>
      </p:sp>
      <p:sp>
        <p:nvSpPr>
          <p:cNvPr id="6" name="Text 3"/>
          <p:cNvSpPr/>
          <p:nvPr/>
        </p:nvSpPr>
        <p:spPr>
          <a:xfrm>
            <a:off x="0" y="4224528"/>
            <a:ext cx="9144000" cy="320040"/>
          </a:xfrm>
          <a:prstGeom prst="rect">
            <a:avLst/>
          </a:prstGeom>
          <a:noFill/>
          <a:ln/>
        </p:spPr>
        <p:txBody>
          <a:bodyPr wrap="square" rtlCol="0" anchor="ctr"/>
          <a:lstStyle/>
          <a:p>
            <a:pPr algn="ctr" indent="0" marL="0">
              <a:buNone/>
            </a:pPr>
            <a:r>
              <a:rPr lang="en-US" sz="1100" spc="100" kern="0" dirty="0">
                <a:solidFill>
                  <a:srgbClr val="B5D4F4"/>
                </a:solidFill>
                <a:latin typeface="Arial" pitchFamily="34" charset="0"/>
                <a:ea typeface="Arial" pitchFamily="34" charset="-122"/>
                <a:cs typeface="Arial" pitchFamily="34" charset="-120"/>
              </a:rPr>
              <a:t>Version 1.0  ·  June 2026  ·  One company. One look. One voice.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37744"/>
            <a:ext cx="5486400" cy="256032"/>
          </a:xfrm>
          <a:prstGeom prst="rect">
            <a:avLst/>
          </a:prstGeom>
          <a:noFill/>
          <a:ln/>
        </p:spPr>
        <p:txBody>
          <a:bodyPr wrap="square" rtlCol="0" anchor="ctr"/>
          <a:lstStyle/>
          <a:p>
            <a:pPr indent="0" marL="0">
              <a:buNone/>
            </a:pPr>
            <a:r>
              <a:rPr lang="en-US" sz="1000" b="1" spc="400" kern="0" dirty="0">
                <a:solidFill>
                  <a:srgbClr val="5A6B80"/>
                </a:solidFill>
                <a:latin typeface="Arial" pitchFamily="34" charset="0"/>
                <a:ea typeface="Arial" pitchFamily="34" charset="-122"/>
                <a:cs typeface="Arial" pitchFamily="34" charset="-120"/>
              </a:rPr>
              <a:t>01  ·  THE PURPOSE</a:t>
            </a:r>
            <a:endParaRPr lang="en-US" sz="1000" dirty="0"/>
          </a:p>
        </p:txBody>
      </p:sp>
      <p:sp>
        <p:nvSpPr>
          <p:cNvPr id="3" name="Text 1"/>
          <p:cNvSpPr/>
          <p:nvPr/>
        </p:nvSpPr>
        <p:spPr>
          <a:xfrm>
            <a:off x="8046720" y="237744"/>
            <a:ext cx="548640" cy="256032"/>
          </a:xfrm>
          <a:prstGeom prst="rect">
            <a:avLst/>
          </a:prstGeom>
          <a:noFill/>
          <a:ln/>
        </p:spPr>
        <p:txBody>
          <a:bodyPr wrap="square" rtlCol="0" anchor="ctr"/>
          <a:lstStyle/>
          <a:p>
            <a:pPr algn="r" indent="0" marL="0">
              <a:buNone/>
            </a:pPr>
            <a:r>
              <a:rPr lang="en-US" sz="1000" spc="200" kern="0" dirty="0">
                <a:solidFill>
                  <a:srgbClr val="5A6B80"/>
                </a:solidFill>
                <a:latin typeface="Arial" pitchFamily="34" charset="0"/>
                <a:ea typeface="Arial" pitchFamily="34" charset="-122"/>
                <a:cs typeface="Arial" pitchFamily="34" charset="-120"/>
              </a:rPr>
              <a:t>02</a:t>
            </a:r>
            <a:endParaRPr lang="en-US" sz="1000" dirty="0"/>
          </a:p>
        </p:txBody>
      </p:sp>
      <p:sp>
        <p:nvSpPr>
          <p:cNvPr id="4" name="Text 2"/>
          <p:cNvSpPr/>
          <p:nvPr/>
        </p:nvSpPr>
        <p:spPr>
          <a:xfrm>
            <a:off x="548640" y="512064"/>
            <a:ext cx="8046720" cy="475488"/>
          </a:xfrm>
          <a:prstGeom prst="rect">
            <a:avLst/>
          </a:prstGeom>
          <a:noFill/>
          <a:ln/>
        </p:spPr>
        <p:txBody>
          <a:bodyPr wrap="square" rtlCol="0" anchor="ctr"/>
          <a:lstStyle/>
          <a:p>
            <a:pPr indent="0" marL="0">
              <a:buNone/>
            </a:pPr>
            <a:r>
              <a:rPr lang="en-US" sz="2700" b="1" dirty="0">
                <a:solidFill>
                  <a:srgbClr val="003087"/>
                </a:solidFill>
                <a:latin typeface="Arial" pitchFamily="34" charset="0"/>
                <a:ea typeface="Arial" pitchFamily="34" charset="-122"/>
                <a:cs typeface="Arial" pitchFamily="34" charset="-120"/>
              </a:rPr>
              <a:t>Why this guide exists</a:t>
            </a:r>
            <a:endParaRPr lang="en-US" sz="2700" dirty="0"/>
          </a:p>
        </p:txBody>
      </p:sp>
      <p:sp>
        <p:nvSpPr>
          <p:cNvPr id="5" name="Text 3"/>
          <p:cNvSpPr/>
          <p:nvPr/>
        </p:nvSpPr>
        <p:spPr>
          <a:xfrm>
            <a:off x="548640" y="1325880"/>
            <a:ext cx="4937760" cy="1554480"/>
          </a:xfrm>
          <a:prstGeom prst="rect">
            <a:avLst/>
          </a:prstGeom>
          <a:noFill/>
          <a:ln/>
        </p:spPr>
        <p:txBody>
          <a:bodyPr wrap="square" rtlCol="0" anchor="ctr"/>
          <a:lstStyle/>
          <a:p>
            <a:pPr indent="0" marL="0">
              <a:lnSpc>
                <a:spcPts val="2300"/>
              </a:lnSpc>
              <a:buNone/>
            </a:pPr>
            <a:r>
              <a:rPr lang="en-US" sz="1500" dirty="0">
                <a:solidFill>
                  <a:srgbClr val="11203A"/>
                </a:solidFill>
                <a:latin typeface="Arial" pitchFamily="34" charset="0"/>
                <a:ea typeface="Arial" pitchFamily="34" charset="-122"/>
                <a:cs typeface="Arial" pitchFamily="34" charset="-120"/>
              </a:rPr>
              <a:t>We audited our own brand. We found four different blues, logos stretched to fit, and headlines that argued with each other. Nobody did anything wrong. This is just what eight years without a rulebook looks like.</a:t>
            </a:r>
            <a:endParaRPr lang="en-US" sz="1500" dirty="0"/>
          </a:p>
        </p:txBody>
      </p:sp>
      <p:sp>
        <p:nvSpPr>
          <p:cNvPr id="6" name="Text 4"/>
          <p:cNvSpPr/>
          <p:nvPr/>
        </p:nvSpPr>
        <p:spPr>
          <a:xfrm>
            <a:off x="548640" y="3017520"/>
            <a:ext cx="4937760" cy="914400"/>
          </a:xfrm>
          <a:prstGeom prst="rect">
            <a:avLst/>
          </a:prstGeom>
          <a:noFill/>
          <a:ln/>
        </p:spPr>
        <p:txBody>
          <a:bodyPr wrap="square" rtlCol="0" anchor="ctr"/>
          <a:lstStyle/>
          <a:p>
            <a:pPr indent="0" marL="0">
              <a:lnSpc>
                <a:spcPts val="2300"/>
              </a:lnSpc>
              <a:buNone/>
            </a:pPr>
            <a:r>
              <a:rPr lang="en-US" sz="1500" b="1" dirty="0">
                <a:solidFill>
                  <a:srgbClr val="003087"/>
                </a:solidFill>
                <a:latin typeface="Arial" pitchFamily="34" charset="0"/>
                <a:ea typeface="Arial" pitchFamily="34" charset="-122"/>
                <a:cs typeface="Arial" pitchFamily="34" charset="-120"/>
              </a:rPr>
              <a:t>This guide is the rulebook. If a decision is written here, nobody has to debate it again.</a:t>
            </a:r>
            <a:endParaRPr lang="en-US" sz="1500" dirty="0"/>
          </a:p>
        </p:txBody>
      </p:sp>
      <p:sp>
        <p:nvSpPr>
          <p:cNvPr id="7" name="Shape 5"/>
          <p:cNvSpPr/>
          <p:nvPr/>
        </p:nvSpPr>
        <p:spPr>
          <a:xfrm>
            <a:off x="5943600" y="1325880"/>
            <a:ext cx="640080" cy="594360"/>
          </a:xfrm>
          <a:prstGeom prst="roundRect">
            <a:avLst>
              <a:gd name="adj" fmla="val 9231"/>
            </a:avLst>
          </a:prstGeom>
          <a:solidFill>
            <a:srgbClr val="042B52"/>
          </a:solidFill>
          <a:ln/>
        </p:spPr>
      </p:sp>
      <p:sp>
        <p:nvSpPr>
          <p:cNvPr id="8" name="Text 6"/>
          <p:cNvSpPr/>
          <p:nvPr/>
        </p:nvSpPr>
        <p:spPr>
          <a:xfrm>
            <a:off x="6720840" y="1325880"/>
            <a:ext cx="2011680" cy="594360"/>
          </a:xfrm>
          <a:prstGeom prst="rect">
            <a:avLst/>
          </a:prstGeom>
          <a:noFill/>
          <a:ln/>
        </p:spPr>
        <p:txBody>
          <a:bodyPr wrap="square" rtlCol="0" anchor="ctr"/>
          <a:lstStyle/>
          <a:p>
            <a:pPr indent="0" marL="0">
              <a:buNone/>
            </a:pPr>
            <a:r>
              <a:rPr lang="en-US" sz="1200" dirty="0">
                <a:solidFill>
                  <a:srgbClr val="5A6B80"/>
                </a:solidFill>
                <a:latin typeface="Arial" pitchFamily="34" charset="0"/>
                <a:ea typeface="Arial" pitchFamily="34" charset="-122"/>
                <a:cs typeface="Arial" pitchFamily="34" charset="-120"/>
              </a:rPr>
              <a:t>Old PNG files</a:t>
            </a:r>
            <a:endParaRPr lang="en-US" sz="1200" dirty="0"/>
          </a:p>
        </p:txBody>
      </p:sp>
      <p:sp>
        <p:nvSpPr>
          <p:cNvPr id="9" name="Text 7"/>
          <p:cNvSpPr/>
          <p:nvPr/>
        </p:nvSpPr>
        <p:spPr>
          <a:xfrm>
            <a:off x="8001000" y="1325880"/>
            <a:ext cx="822960" cy="594360"/>
          </a:xfrm>
          <a:prstGeom prst="rect">
            <a:avLst/>
          </a:prstGeom>
          <a:noFill/>
          <a:ln/>
        </p:spPr>
        <p:txBody>
          <a:bodyPr wrap="square" rtlCol="0" anchor="ctr"/>
          <a:lstStyle/>
          <a:p>
            <a:pPr algn="r" indent="0" marL="0">
              <a:buNone/>
            </a:pPr>
            <a:r>
              <a:rPr lang="en-US" sz="1000" i="1" dirty="0">
                <a:solidFill>
                  <a:srgbClr val="C0392B"/>
                </a:solidFill>
                <a:latin typeface="Arial" pitchFamily="34" charset="0"/>
                <a:ea typeface="Arial" pitchFamily="34" charset="-122"/>
                <a:cs typeface="Arial" pitchFamily="34" charset="-120"/>
              </a:rPr>
              <a:t>retired</a:t>
            </a:r>
            <a:endParaRPr lang="en-US" sz="1000" dirty="0"/>
          </a:p>
        </p:txBody>
      </p:sp>
      <p:sp>
        <p:nvSpPr>
          <p:cNvPr id="10" name="Shape 8"/>
          <p:cNvSpPr/>
          <p:nvPr/>
        </p:nvSpPr>
        <p:spPr>
          <a:xfrm>
            <a:off x="5943600" y="2103120"/>
            <a:ext cx="640080" cy="594360"/>
          </a:xfrm>
          <a:prstGeom prst="roundRect">
            <a:avLst>
              <a:gd name="adj" fmla="val 9231"/>
            </a:avLst>
          </a:prstGeom>
          <a:solidFill>
            <a:srgbClr val="1F3D7D"/>
          </a:solidFill>
          <a:ln/>
        </p:spPr>
      </p:sp>
      <p:sp>
        <p:nvSpPr>
          <p:cNvPr id="11" name="Text 9"/>
          <p:cNvSpPr/>
          <p:nvPr/>
        </p:nvSpPr>
        <p:spPr>
          <a:xfrm>
            <a:off x="6720840" y="2103120"/>
            <a:ext cx="2011680" cy="594360"/>
          </a:xfrm>
          <a:prstGeom prst="rect">
            <a:avLst/>
          </a:prstGeom>
          <a:noFill/>
          <a:ln/>
        </p:spPr>
        <p:txBody>
          <a:bodyPr wrap="square" rtlCol="0" anchor="ctr"/>
          <a:lstStyle/>
          <a:p>
            <a:pPr indent="0" marL="0">
              <a:buNone/>
            </a:pPr>
            <a:r>
              <a:rPr lang="en-US" sz="1200" dirty="0">
                <a:solidFill>
                  <a:srgbClr val="5A6B80"/>
                </a:solidFill>
                <a:latin typeface="Arial" pitchFamily="34" charset="0"/>
                <a:ea typeface="Arial" pitchFamily="34" charset="-122"/>
                <a:cs typeface="Arial" pitchFamily="34" charset="-120"/>
              </a:rPr>
              <a:t>Old icon files</a:t>
            </a:r>
            <a:endParaRPr lang="en-US" sz="1200" dirty="0"/>
          </a:p>
        </p:txBody>
      </p:sp>
      <p:sp>
        <p:nvSpPr>
          <p:cNvPr id="12" name="Text 10"/>
          <p:cNvSpPr/>
          <p:nvPr/>
        </p:nvSpPr>
        <p:spPr>
          <a:xfrm>
            <a:off x="8001000" y="2103120"/>
            <a:ext cx="822960" cy="594360"/>
          </a:xfrm>
          <a:prstGeom prst="rect">
            <a:avLst/>
          </a:prstGeom>
          <a:noFill/>
          <a:ln/>
        </p:spPr>
        <p:txBody>
          <a:bodyPr wrap="square" rtlCol="0" anchor="ctr"/>
          <a:lstStyle/>
          <a:p>
            <a:pPr algn="r" indent="0" marL="0">
              <a:buNone/>
            </a:pPr>
            <a:r>
              <a:rPr lang="en-US" sz="1000" i="1" dirty="0">
                <a:solidFill>
                  <a:srgbClr val="C0392B"/>
                </a:solidFill>
                <a:latin typeface="Arial" pitchFamily="34" charset="0"/>
                <a:ea typeface="Arial" pitchFamily="34" charset="-122"/>
                <a:cs typeface="Arial" pitchFamily="34" charset="-120"/>
              </a:rPr>
              <a:t>retired</a:t>
            </a:r>
            <a:endParaRPr lang="en-US" sz="1000" dirty="0"/>
          </a:p>
        </p:txBody>
      </p:sp>
      <p:sp>
        <p:nvSpPr>
          <p:cNvPr id="13" name="Shape 11"/>
          <p:cNvSpPr/>
          <p:nvPr/>
        </p:nvSpPr>
        <p:spPr>
          <a:xfrm>
            <a:off x="5943600" y="2880360"/>
            <a:ext cx="640080" cy="594360"/>
          </a:xfrm>
          <a:prstGeom prst="roundRect">
            <a:avLst>
              <a:gd name="adj" fmla="val 9231"/>
            </a:avLst>
          </a:prstGeom>
          <a:solidFill>
            <a:srgbClr val="2563EB"/>
          </a:solidFill>
          <a:ln/>
        </p:spPr>
      </p:sp>
      <p:sp>
        <p:nvSpPr>
          <p:cNvPr id="14" name="Text 12"/>
          <p:cNvSpPr/>
          <p:nvPr/>
        </p:nvSpPr>
        <p:spPr>
          <a:xfrm>
            <a:off x="6720840" y="2880360"/>
            <a:ext cx="2011680" cy="594360"/>
          </a:xfrm>
          <a:prstGeom prst="rect">
            <a:avLst/>
          </a:prstGeom>
          <a:noFill/>
          <a:ln/>
        </p:spPr>
        <p:txBody>
          <a:bodyPr wrap="square" rtlCol="0" anchor="ctr"/>
          <a:lstStyle/>
          <a:p>
            <a:pPr indent="0" marL="0">
              <a:buNone/>
            </a:pPr>
            <a:r>
              <a:rPr lang="en-US" sz="1200" dirty="0">
                <a:solidFill>
                  <a:srgbClr val="5A6B80"/>
                </a:solidFill>
                <a:latin typeface="Arial" pitchFamily="34" charset="0"/>
                <a:ea typeface="Arial" pitchFamily="34" charset="-122"/>
                <a:cs typeface="Arial" pitchFamily="34" charset="-120"/>
              </a:rPr>
              <a:t>Website blues</a:t>
            </a:r>
            <a:endParaRPr lang="en-US" sz="1200" dirty="0"/>
          </a:p>
        </p:txBody>
      </p:sp>
      <p:sp>
        <p:nvSpPr>
          <p:cNvPr id="15" name="Text 13"/>
          <p:cNvSpPr/>
          <p:nvPr/>
        </p:nvSpPr>
        <p:spPr>
          <a:xfrm>
            <a:off x="8001000" y="2880360"/>
            <a:ext cx="822960" cy="594360"/>
          </a:xfrm>
          <a:prstGeom prst="rect">
            <a:avLst/>
          </a:prstGeom>
          <a:noFill/>
          <a:ln/>
        </p:spPr>
        <p:txBody>
          <a:bodyPr wrap="square" rtlCol="0" anchor="ctr"/>
          <a:lstStyle/>
          <a:p>
            <a:pPr algn="r" indent="0" marL="0">
              <a:buNone/>
            </a:pPr>
            <a:r>
              <a:rPr lang="en-US" sz="1000" i="1" dirty="0">
                <a:solidFill>
                  <a:srgbClr val="C0392B"/>
                </a:solidFill>
                <a:latin typeface="Arial" pitchFamily="34" charset="0"/>
                <a:ea typeface="Arial" pitchFamily="34" charset="-122"/>
                <a:cs typeface="Arial" pitchFamily="34" charset="-120"/>
              </a:rPr>
              <a:t>retired</a:t>
            </a:r>
            <a:endParaRPr lang="en-US" sz="1000" dirty="0"/>
          </a:p>
        </p:txBody>
      </p:sp>
      <p:sp>
        <p:nvSpPr>
          <p:cNvPr id="16" name="Shape 14"/>
          <p:cNvSpPr/>
          <p:nvPr/>
        </p:nvSpPr>
        <p:spPr>
          <a:xfrm>
            <a:off x="5943600" y="3657600"/>
            <a:ext cx="640080" cy="594360"/>
          </a:xfrm>
          <a:prstGeom prst="roundRect">
            <a:avLst>
              <a:gd name="adj" fmla="val 9231"/>
            </a:avLst>
          </a:prstGeom>
          <a:solidFill>
            <a:srgbClr val="003087"/>
          </a:solidFill>
          <a:ln/>
        </p:spPr>
      </p:sp>
      <p:sp>
        <p:nvSpPr>
          <p:cNvPr id="17" name="Text 15"/>
          <p:cNvSpPr/>
          <p:nvPr/>
        </p:nvSpPr>
        <p:spPr>
          <a:xfrm>
            <a:off x="6720840" y="3657600"/>
            <a:ext cx="2011680" cy="594360"/>
          </a:xfrm>
          <a:prstGeom prst="rect">
            <a:avLst/>
          </a:prstGeom>
          <a:noFill/>
          <a:ln/>
        </p:spPr>
        <p:txBody>
          <a:bodyPr wrap="square" rtlCol="0" anchor="ctr"/>
          <a:lstStyle/>
          <a:p>
            <a:pPr indent="0" marL="0">
              <a:buNone/>
            </a:pPr>
            <a:r>
              <a:rPr lang="en-US" sz="1200" b="1" dirty="0">
                <a:solidFill>
                  <a:srgbClr val="003087"/>
                </a:solidFill>
                <a:latin typeface="Arial" pitchFamily="34" charset="0"/>
                <a:ea typeface="Arial" pitchFamily="34" charset="-122"/>
                <a:cs typeface="Arial" pitchFamily="34" charset="-120"/>
              </a:rPr>
              <a:t>THE OFFICIAL ONE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3087"/>
        </a:solidFill>
      </p:bgPr>
    </p:bg>
    <p:spTree>
      <p:nvGrpSpPr>
        <p:cNvPr id="1" name=""/>
        <p:cNvGrpSpPr/>
        <p:nvPr/>
      </p:nvGrpSpPr>
      <p:grpSpPr>
        <a:xfrm>
          <a:off x="0" y="0"/>
          <a:ext cx="0" cy="0"/>
          <a:chOff x="0" y="0"/>
          <a:chExt cx="0" cy="0"/>
        </a:xfrm>
      </p:grpSpPr>
      <p:pic>
        <p:nvPicPr>
          <p:cNvPr id="2" name="Image 0" descr="assets/zhl-icon-white-1024px.png">    </p:cNvPr>
          <p:cNvPicPr>
            <a:picLocks noChangeAspect="1"/>
          </p:cNvPicPr>
          <p:nvPr/>
        </p:nvPicPr>
        <p:blipFill>
          <a:blip r:embed="rId1">
            <a:alphaModFix amt="8000"/>
          </a:blip>
          <a:stretch>
            <a:fillRect/>
          </a:stretch>
        </p:blipFill>
        <p:spPr>
          <a:xfrm>
            <a:off x="6766560" y="3383280"/>
            <a:ext cx="3291840" cy="1984248"/>
          </a:xfrm>
          <a:prstGeom prst="rect">
            <a:avLst/>
          </a:prstGeom>
        </p:spPr>
      </p:pic>
      <p:sp>
        <p:nvSpPr>
          <p:cNvPr id="3" name="Text 0"/>
          <p:cNvSpPr/>
          <p:nvPr/>
        </p:nvSpPr>
        <p:spPr>
          <a:xfrm>
            <a:off x="548640" y="237744"/>
            <a:ext cx="5486400" cy="256032"/>
          </a:xfrm>
          <a:prstGeom prst="rect">
            <a:avLst/>
          </a:prstGeom>
          <a:noFill/>
          <a:ln/>
        </p:spPr>
        <p:txBody>
          <a:bodyPr wrap="square" rtlCol="0" anchor="ctr"/>
          <a:lstStyle/>
          <a:p>
            <a:pPr indent="0" marL="0">
              <a:buNone/>
            </a:pPr>
            <a:r>
              <a:rPr lang="en-US" sz="1000" b="1" spc="400" kern="0" dirty="0">
                <a:solidFill>
                  <a:srgbClr val="B5D4F4"/>
                </a:solidFill>
                <a:latin typeface="Arial" pitchFamily="34" charset="0"/>
                <a:ea typeface="Arial" pitchFamily="34" charset="-122"/>
                <a:cs typeface="Arial" pitchFamily="34" charset="-120"/>
              </a:rPr>
              <a:t>02  ·  THE NAME</a:t>
            </a:r>
            <a:endParaRPr lang="en-US" sz="1000" dirty="0"/>
          </a:p>
        </p:txBody>
      </p:sp>
      <p:sp>
        <p:nvSpPr>
          <p:cNvPr id="4" name="Text 1"/>
          <p:cNvSpPr/>
          <p:nvPr/>
        </p:nvSpPr>
        <p:spPr>
          <a:xfrm>
            <a:off x="8046720" y="237744"/>
            <a:ext cx="548640" cy="256032"/>
          </a:xfrm>
          <a:prstGeom prst="rect">
            <a:avLst/>
          </a:prstGeom>
          <a:noFill/>
          <a:ln/>
        </p:spPr>
        <p:txBody>
          <a:bodyPr wrap="square" rtlCol="0" anchor="ctr"/>
          <a:lstStyle/>
          <a:p>
            <a:pPr algn="r" indent="0" marL="0">
              <a:buNone/>
            </a:pPr>
            <a:r>
              <a:rPr lang="en-US" sz="1000" spc="200" kern="0" dirty="0">
                <a:solidFill>
                  <a:srgbClr val="B5D4F4"/>
                </a:solidFill>
                <a:latin typeface="Arial" pitchFamily="34" charset="0"/>
                <a:ea typeface="Arial" pitchFamily="34" charset="-122"/>
                <a:cs typeface="Arial" pitchFamily="34" charset="-120"/>
              </a:rPr>
              <a:t>03</a:t>
            </a:r>
            <a:endParaRPr lang="en-US" sz="1000" dirty="0"/>
          </a:p>
        </p:txBody>
      </p:sp>
      <p:sp>
        <p:nvSpPr>
          <p:cNvPr id="5" name="Text 2"/>
          <p:cNvSpPr/>
          <p:nvPr/>
        </p:nvSpPr>
        <p:spPr>
          <a:xfrm>
            <a:off x="1143000" y="512064"/>
            <a:ext cx="7452360" cy="475488"/>
          </a:xfrm>
          <a:prstGeom prst="rect">
            <a:avLst/>
          </a:prstGeom>
          <a:noFill/>
          <a:ln/>
        </p:spPr>
        <p:txBody>
          <a:bodyPr wrap="square" rtlCol="0" anchor="ctr"/>
          <a:lstStyle/>
          <a:p>
            <a:pPr indent="0" marL="0">
              <a:buNone/>
            </a:pPr>
            <a:r>
              <a:rPr lang="en-US" sz="2700" b="1" dirty="0">
                <a:solidFill>
                  <a:srgbClr val="FFFFFF"/>
                </a:solidFill>
                <a:latin typeface="Arial" pitchFamily="34" charset="0"/>
                <a:ea typeface="Arial" pitchFamily="34" charset="-122"/>
                <a:cs typeface="Arial" pitchFamily="34" charset="-120"/>
              </a:rPr>
              <a:t>Why we are called Zhenghe</a:t>
            </a:r>
            <a:endParaRPr lang="en-US" sz="2700" dirty="0"/>
          </a:p>
        </p:txBody>
      </p:sp>
      <p:pic>
        <p:nvPicPr>
          <p:cNvPr id="6" name="Image 1" descr="preencoded.png">    </p:cNvPr>
          <p:cNvPicPr>
            <a:picLocks noChangeAspect="1"/>
          </p:cNvPicPr>
          <p:nvPr/>
        </p:nvPicPr>
        <p:blipFill>
          <a:blip r:embed="rId2"/>
          <a:stretch>
            <a:fillRect/>
          </a:stretch>
        </p:blipFill>
        <p:spPr>
          <a:xfrm>
            <a:off x="566928" y="548640"/>
            <a:ext cx="411480" cy="411480"/>
          </a:xfrm>
          <a:prstGeom prst="rect">
            <a:avLst/>
          </a:prstGeom>
        </p:spPr>
      </p:pic>
      <p:sp>
        <p:nvSpPr>
          <p:cNvPr id="7" name="Text 3"/>
          <p:cNvSpPr/>
          <p:nvPr/>
        </p:nvSpPr>
        <p:spPr>
          <a:xfrm>
            <a:off x="1143000" y="1417320"/>
            <a:ext cx="6858000" cy="2194560"/>
          </a:xfrm>
          <a:prstGeom prst="rect">
            <a:avLst/>
          </a:prstGeom>
          <a:noFill/>
          <a:ln/>
        </p:spPr>
        <p:txBody>
          <a:bodyPr wrap="square" rtlCol="0" anchor="ctr"/>
          <a:lstStyle/>
          <a:p>
            <a:pPr indent="0" marL="0">
              <a:lnSpc>
                <a:spcPts val="2600"/>
              </a:lnSpc>
              <a:buNone/>
            </a:pPr>
            <a:r>
              <a:rPr lang="en-US" sz="1700" dirty="0">
                <a:solidFill>
                  <a:srgbClr val="FFFFFF"/>
                </a:solidFill>
                <a:latin typeface="Arial" pitchFamily="34" charset="0"/>
                <a:ea typeface="Arial" pitchFamily="34" charset="-122"/>
                <a:cs typeface="Arial" pitchFamily="34" charset="-120"/>
              </a:rPr>
              <a:t>In 1405, Admiral Zheng He led the largest fleet the world had ever seen through the Indonesian archipelago: Java, Sumatra, Palembang. Seven voyages over three decades.</a:t>
            </a:r>
            <a:endParaRPr lang="en-US" sz="1700" dirty="0"/>
          </a:p>
          <a:p>
            <a:pPr indent="0" marL="0">
              <a:lnSpc>
                <a:spcPts val="2600"/>
              </a:lnSpc>
              <a:buNone/>
            </a:pPr>
            <a:endParaRPr lang="en-US" sz="1700" dirty="0"/>
          </a:p>
          <a:p>
            <a:pPr indent="0" marL="0">
              <a:lnSpc>
                <a:spcPts val="2600"/>
              </a:lnSpc>
              <a:buNone/>
            </a:pPr>
            <a:r>
              <a:rPr lang="en-US" sz="1700" dirty="0">
                <a:solidFill>
                  <a:srgbClr val="FFFFFF"/>
                </a:solidFill>
                <a:latin typeface="Arial" pitchFamily="34" charset="0"/>
                <a:ea typeface="Arial" pitchFamily="34" charset="-122"/>
                <a:cs typeface="Arial" pitchFamily="34" charset="-120"/>
              </a:rPr>
              <a:t>Six hundred years later, we move cargo through the same waters. The name is a standard, not a story: know the route better than anyone, and run a disciplined fleet behind every shipment.</a:t>
            </a:r>
            <a:endParaRPr lang="en-US" sz="1700" dirty="0"/>
          </a:p>
        </p:txBody>
      </p:sp>
      <p:sp>
        <p:nvSpPr>
          <p:cNvPr id="8" name="Text 4"/>
          <p:cNvSpPr/>
          <p:nvPr/>
        </p:nvSpPr>
        <p:spPr>
          <a:xfrm>
            <a:off x="1143000" y="3886200"/>
            <a:ext cx="6858000" cy="548640"/>
          </a:xfrm>
          <a:prstGeom prst="rect">
            <a:avLst/>
          </a:prstGeom>
          <a:noFill/>
          <a:ln/>
        </p:spPr>
        <p:txBody>
          <a:bodyPr wrap="square" rtlCol="0" anchor="ctr"/>
          <a:lstStyle/>
          <a:p>
            <a:pPr indent="0" marL="0">
              <a:buNone/>
            </a:pPr>
            <a:r>
              <a:rPr lang="en-US" sz="2000" b="1" i="1" dirty="0">
                <a:solidFill>
                  <a:srgbClr val="B5D4F4"/>
                </a:solidFill>
                <a:latin typeface="Arial" pitchFamily="34" charset="0"/>
                <a:ea typeface="Arial" pitchFamily="34" charset="-122"/>
                <a:cs typeface="Arial" pitchFamily="34" charset="-120"/>
              </a:rPr>
              <a:t>“The Trusted Route.”</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37744"/>
            <a:ext cx="5486400" cy="256032"/>
          </a:xfrm>
          <a:prstGeom prst="rect">
            <a:avLst/>
          </a:prstGeom>
          <a:noFill/>
          <a:ln/>
        </p:spPr>
        <p:txBody>
          <a:bodyPr wrap="square" rtlCol="0" anchor="ctr"/>
          <a:lstStyle/>
          <a:p>
            <a:pPr indent="0" marL="0">
              <a:buNone/>
            </a:pPr>
            <a:r>
              <a:rPr lang="en-US" sz="1000" b="1" spc="400" kern="0" dirty="0">
                <a:solidFill>
                  <a:srgbClr val="5A6B80"/>
                </a:solidFill>
                <a:latin typeface="Arial" pitchFamily="34" charset="0"/>
                <a:ea typeface="Arial" pitchFamily="34" charset="-122"/>
                <a:cs typeface="Arial" pitchFamily="34" charset="-120"/>
              </a:rPr>
              <a:t>03  ·  POSITIONING</a:t>
            </a:r>
            <a:endParaRPr lang="en-US" sz="1000" dirty="0"/>
          </a:p>
        </p:txBody>
      </p:sp>
      <p:sp>
        <p:nvSpPr>
          <p:cNvPr id="3" name="Text 1"/>
          <p:cNvSpPr/>
          <p:nvPr/>
        </p:nvSpPr>
        <p:spPr>
          <a:xfrm>
            <a:off x="8046720" y="237744"/>
            <a:ext cx="548640" cy="256032"/>
          </a:xfrm>
          <a:prstGeom prst="rect">
            <a:avLst/>
          </a:prstGeom>
          <a:noFill/>
          <a:ln/>
        </p:spPr>
        <p:txBody>
          <a:bodyPr wrap="square" rtlCol="0" anchor="ctr"/>
          <a:lstStyle/>
          <a:p>
            <a:pPr algn="r" indent="0" marL="0">
              <a:buNone/>
            </a:pPr>
            <a:r>
              <a:rPr lang="en-US" sz="1000" spc="200" kern="0" dirty="0">
                <a:solidFill>
                  <a:srgbClr val="5A6B80"/>
                </a:solidFill>
                <a:latin typeface="Arial" pitchFamily="34" charset="0"/>
                <a:ea typeface="Arial" pitchFamily="34" charset="-122"/>
                <a:cs typeface="Arial" pitchFamily="34" charset="-120"/>
              </a:rPr>
              <a:t>04</a:t>
            </a:r>
            <a:endParaRPr lang="en-US" sz="1000" dirty="0"/>
          </a:p>
        </p:txBody>
      </p:sp>
      <p:sp>
        <p:nvSpPr>
          <p:cNvPr id="4" name="Text 2"/>
          <p:cNvSpPr/>
          <p:nvPr/>
        </p:nvSpPr>
        <p:spPr>
          <a:xfrm>
            <a:off x="548640" y="512064"/>
            <a:ext cx="8046720" cy="475488"/>
          </a:xfrm>
          <a:prstGeom prst="rect">
            <a:avLst/>
          </a:prstGeom>
          <a:noFill/>
          <a:ln/>
        </p:spPr>
        <p:txBody>
          <a:bodyPr wrap="square" rtlCol="0" anchor="ctr"/>
          <a:lstStyle/>
          <a:p>
            <a:pPr indent="0" marL="0">
              <a:buNone/>
            </a:pPr>
            <a:r>
              <a:rPr lang="en-US" sz="2700" b="1" dirty="0">
                <a:solidFill>
                  <a:srgbClr val="003087"/>
                </a:solidFill>
                <a:latin typeface="Arial" pitchFamily="34" charset="0"/>
                <a:ea typeface="Arial" pitchFamily="34" charset="-122"/>
                <a:cs typeface="Arial" pitchFamily="34" charset="-120"/>
              </a:rPr>
              <a:t>Who we are</a:t>
            </a:r>
            <a:endParaRPr lang="en-US" sz="2700" dirty="0"/>
          </a:p>
        </p:txBody>
      </p:sp>
      <p:sp>
        <p:nvSpPr>
          <p:cNvPr id="5" name="Text 3"/>
          <p:cNvSpPr/>
          <p:nvPr/>
        </p:nvSpPr>
        <p:spPr>
          <a:xfrm>
            <a:off x="548640" y="1417320"/>
            <a:ext cx="8046720" cy="1828800"/>
          </a:xfrm>
          <a:prstGeom prst="rect">
            <a:avLst/>
          </a:prstGeom>
          <a:noFill/>
          <a:ln/>
        </p:spPr>
        <p:txBody>
          <a:bodyPr wrap="square" rtlCol="0" anchor="ctr"/>
          <a:lstStyle/>
          <a:p>
            <a:pPr indent="0" marL="0">
              <a:lnSpc>
                <a:spcPts val="3400"/>
              </a:lnSpc>
              <a:buNone/>
            </a:pPr>
            <a:r>
              <a:rPr lang="en-US" sz="2200" dirty="0">
                <a:solidFill>
                  <a:srgbClr val="11203A"/>
                </a:solidFill>
                <a:latin typeface="Arial" pitchFamily="34" charset="0"/>
                <a:ea typeface="Arial" pitchFamily="34" charset="-122"/>
                <a:cs typeface="Arial" pitchFamily="34" charset="-120"/>
              </a:rPr>
              <a:t>Zhenghe Logistics is the </a:t>
            </a:r>
            <a:pPr indent="0" marL="0">
              <a:lnSpc>
                <a:spcPts val="3400"/>
              </a:lnSpc>
              <a:buNone/>
            </a:pPr>
            <a:r>
              <a:rPr lang="en-US" sz="2200" b="1" dirty="0">
                <a:solidFill>
                  <a:srgbClr val="003087"/>
                </a:solidFill>
                <a:latin typeface="Arial" pitchFamily="34" charset="0"/>
                <a:ea typeface="Arial" pitchFamily="34" charset="-122"/>
                <a:cs typeface="Arial" pitchFamily="34" charset="-120"/>
              </a:rPr>
              <a:t>Indonesia door-to-door specialist</a:t>
            </a:r>
            <a:pPr indent="0" marL="0">
              <a:lnSpc>
                <a:spcPts val="3400"/>
              </a:lnSpc>
              <a:buNone/>
            </a:pPr>
            <a:r>
              <a:rPr lang="en-US" sz="2200" dirty="0">
                <a:solidFill>
                  <a:srgbClr val="11203A"/>
                </a:solidFill>
                <a:latin typeface="Arial" pitchFamily="34" charset="0"/>
                <a:ea typeface="Arial" pitchFamily="34" charset="-122"/>
                <a:cs typeface="Arial" pitchFamily="34" charset="-120"/>
              </a:rPr>
              <a:t> for manufacturers, procurement managers, and business owners. Every client gets a </a:t>
            </a:r>
            <a:pPr indent="0" marL="0">
              <a:lnSpc>
                <a:spcPts val="3400"/>
              </a:lnSpc>
              <a:buNone/>
            </a:pPr>
            <a:r>
              <a:rPr lang="en-US" sz="2200" b="1" dirty="0">
                <a:solidFill>
                  <a:srgbClr val="003087"/>
                </a:solidFill>
                <a:latin typeface="Arial" pitchFamily="34" charset="0"/>
                <a:ea typeface="Arial" pitchFamily="34" charset="-122"/>
                <a:cs typeface="Arial" pitchFamily="34" charset="-120"/>
              </a:rPr>
              <a:t>dedicated account manager who owns the shipment end-to-end</a:t>
            </a:r>
            <a:pPr indent="0" marL="0">
              <a:lnSpc>
                <a:spcPts val="3400"/>
              </a:lnSpc>
              <a:buNone/>
            </a:pPr>
            <a:r>
              <a:rPr lang="en-US" sz="2200" dirty="0">
                <a:solidFill>
                  <a:srgbClr val="11203A"/>
                </a:solidFill>
                <a:latin typeface="Arial" pitchFamily="34" charset="0"/>
                <a:ea typeface="Arial" pitchFamily="34" charset="-122"/>
                <a:cs typeface="Arial" pitchFamily="34" charset="-120"/>
              </a:rPr>
              <a:t>, unlike generalist forwarders who treat cargo as a batch number.</a:t>
            </a:r>
            <a:endParaRPr lang="en-US" sz="2200" dirty="0"/>
          </a:p>
        </p:txBody>
      </p:sp>
      <p:sp>
        <p:nvSpPr>
          <p:cNvPr id="6" name="Shape 4"/>
          <p:cNvSpPr/>
          <p:nvPr/>
        </p:nvSpPr>
        <p:spPr>
          <a:xfrm>
            <a:off x="548640" y="3703320"/>
            <a:ext cx="8046720" cy="914400"/>
          </a:xfrm>
          <a:prstGeom prst="roundRect">
            <a:avLst>
              <a:gd name="adj" fmla="val 8000"/>
            </a:avLst>
          </a:prstGeom>
          <a:solidFill>
            <a:srgbClr val="FFFFFF"/>
          </a:solidFill>
          <a:ln w="12700">
            <a:solidFill>
              <a:srgbClr val="D9E1EA"/>
            </a:solidFill>
            <a:prstDash val="solid"/>
          </a:ln>
        </p:spPr>
      </p:sp>
      <p:sp>
        <p:nvSpPr>
          <p:cNvPr id="7" name="Text 5"/>
          <p:cNvSpPr/>
          <p:nvPr/>
        </p:nvSpPr>
        <p:spPr>
          <a:xfrm>
            <a:off x="822960" y="3703320"/>
            <a:ext cx="7498080" cy="914400"/>
          </a:xfrm>
          <a:prstGeom prst="rect">
            <a:avLst/>
          </a:prstGeom>
          <a:noFill/>
          <a:ln/>
        </p:spPr>
        <p:txBody>
          <a:bodyPr wrap="square" rtlCol="0" anchor="ctr"/>
          <a:lstStyle/>
          <a:p>
            <a:pPr indent="0" marL="0">
              <a:buNone/>
            </a:pPr>
            <a:r>
              <a:rPr lang="en-US" sz="1400" b="1" dirty="0">
                <a:solidFill>
                  <a:srgbClr val="003087"/>
                </a:solidFill>
                <a:latin typeface="Arial" pitchFamily="34" charset="0"/>
                <a:ea typeface="Arial" pitchFamily="34" charset="-122"/>
                <a:cs typeface="Arial" pitchFamily="34" charset="-120"/>
              </a:rPr>
              <a:t>The test for everything we make: </a:t>
            </a:r>
            <a:pPr indent="0" marL="0">
              <a:buNone/>
            </a:pPr>
            <a:r>
              <a:rPr lang="en-US" sz="1400" dirty="0">
                <a:solidFill>
                  <a:srgbClr val="5A6B80"/>
                </a:solidFill>
                <a:latin typeface="Arial" pitchFamily="34" charset="0"/>
                <a:ea typeface="Arial" pitchFamily="34" charset="-122"/>
                <a:cs typeface="Arial" pitchFamily="34" charset="-120"/>
              </a:rPr>
              <a:t>if it doesn’t serve this sentence, it isn’t on brand.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37744"/>
            <a:ext cx="5486400" cy="256032"/>
          </a:xfrm>
          <a:prstGeom prst="rect">
            <a:avLst/>
          </a:prstGeom>
          <a:noFill/>
          <a:ln/>
        </p:spPr>
        <p:txBody>
          <a:bodyPr wrap="square" rtlCol="0" anchor="ctr"/>
          <a:lstStyle/>
          <a:p>
            <a:pPr indent="0" marL="0">
              <a:buNone/>
            </a:pPr>
            <a:r>
              <a:rPr lang="en-US" sz="1000" b="1" spc="400" kern="0" dirty="0">
                <a:solidFill>
                  <a:srgbClr val="5A6B80"/>
                </a:solidFill>
                <a:latin typeface="Arial" pitchFamily="34" charset="0"/>
                <a:ea typeface="Arial" pitchFamily="34" charset="-122"/>
                <a:cs typeface="Arial" pitchFamily="34" charset="-120"/>
              </a:rPr>
              <a:t>04  ·  THE TAGLINE</a:t>
            </a:r>
            <a:endParaRPr lang="en-US" sz="1000" dirty="0"/>
          </a:p>
        </p:txBody>
      </p:sp>
      <p:sp>
        <p:nvSpPr>
          <p:cNvPr id="3" name="Text 1"/>
          <p:cNvSpPr/>
          <p:nvPr/>
        </p:nvSpPr>
        <p:spPr>
          <a:xfrm>
            <a:off x="8046720" y="237744"/>
            <a:ext cx="548640" cy="256032"/>
          </a:xfrm>
          <a:prstGeom prst="rect">
            <a:avLst/>
          </a:prstGeom>
          <a:noFill/>
          <a:ln/>
        </p:spPr>
        <p:txBody>
          <a:bodyPr wrap="square" rtlCol="0" anchor="ctr"/>
          <a:lstStyle/>
          <a:p>
            <a:pPr algn="r" indent="0" marL="0">
              <a:buNone/>
            </a:pPr>
            <a:r>
              <a:rPr lang="en-US" sz="1000" spc="200" kern="0" dirty="0">
                <a:solidFill>
                  <a:srgbClr val="5A6B80"/>
                </a:solidFill>
                <a:latin typeface="Arial" pitchFamily="34" charset="0"/>
                <a:ea typeface="Arial" pitchFamily="34" charset="-122"/>
                <a:cs typeface="Arial" pitchFamily="34" charset="-120"/>
              </a:rPr>
              <a:t>05</a:t>
            </a:r>
            <a:endParaRPr lang="en-US" sz="1000" dirty="0"/>
          </a:p>
        </p:txBody>
      </p:sp>
      <p:sp>
        <p:nvSpPr>
          <p:cNvPr id="4" name="Text 2"/>
          <p:cNvSpPr/>
          <p:nvPr/>
        </p:nvSpPr>
        <p:spPr>
          <a:xfrm>
            <a:off x="548640" y="512064"/>
            <a:ext cx="8046720" cy="475488"/>
          </a:xfrm>
          <a:prstGeom prst="rect">
            <a:avLst/>
          </a:prstGeom>
          <a:noFill/>
          <a:ln/>
        </p:spPr>
        <p:txBody>
          <a:bodyPr wrap="square" rtlCol="0" anchor="ctr"/>
          <a:lstStyle/>
          <a:p>
            <a:pPr indent="0" marL="0">
              <a:buNone/>
            </a:pPr>
            <a:r>
              <a:rPr lang="en-US" sz="2700" b="1" dirty="0">
                <a:solidFill>
                  <a:srgbClr val="003087"/>
                </a:solidFill>
                <a:latin typeface="Arial" pitchFamily="34" charset="0"/>
                <a:ea typeface="Arial" pitchFamily="34" charset="-122"/>
                <a:cs typeface="Arial" pitchFamily="34" charset="-120"/>
              </a:rPr>
              <a:t>From Singapore to the World.</a:t>
            </a:r>
            <a:endParaRPr lang="en-US" sz="2700" dirty="0"/>
          </a:p>
        </p:txBody>
      </p:sp>
      <p:sp>
        <p:nvSpPr>
          <p:cNvPr id="5" name="Text 3"/>
          <p:cNvSpPr/>
          <p:nvPr/>
        </p:nvSpPr>
        <p:spPr>
          <a:xfrm>
            <a:off x="548640" y="1170432"/>
            <a:ext cx="8046720" cy="457200"/>
          </a:xfrm>
          <a:prstGeom prst="rect">
            <a:avLst/>
          </a:prstGeom>
          <a:noFill/>
          <a:ln/>
        </p:spPr>
        <p:txBody>
          <a:bodyPr wrap="square" rtlCol="0" anchor="ctr"/>
          <a:lstStyle/>
          <a:p>
            <a:pPr indent="0" marL="0">
              <a:buNone/>
            </a:pPr>
            <a:r>
              <a:rPr lang="en-US" sz="1800" dirty="0">
                <a:solidFill>
                  <a:srgbClr val="5A6B80"/>
                </a:solidFill>
                <a:latin typeface="Arial" pitchFamily="34" charset="0"/>
                <a:ea typeface="Arial" pitchFamily="34" charset="-122"/>
                <a:cs typeface="Arial" pitchFamily="34" charset="-120"/>
              </a:rPr>
              <a:t>Our tagline, and the rule for using it: </a:t>
            </a:r>
            <a:pPr indent="0" marL="0">
              <a:buNone/>
            </a:pPr>
            <a:r>
              <a:rPr lang="en-US" sz="1800" b="1" dirty="0">
                <a:solidFill>
                  <a:srgbClr val="003087"/>
                </a:solidFill>
                <a:latin typeface="Arial" pitchFamily="34" charset="0"/>
                <a:ea typeface="Arial" pitchFamily="34" charset="-122"/>
                <a:cs typeface="Arial" pitchFamily="34" charset="-120"/>
              </a:rPr>
              <a:t>Indonesia first. </a:t>
            </a:r>
            <a:pPr indent="0" marL="0">
              <a:buNone/>
            </a:pPr>
            <a:r>
              <a:rPr lang="en-US" sz="1800" b="1" dirty="0">
                <a:solidFill>
                  <a:srgbClr val="0061E0"/>
                </a:solidFill>
                <a:latin typeface="Arial" pitchFamily="34" charset="0"/>
                <a:ea typeface="Arial" pitchFamily="34" charset="-122"/>
                <a:cs typeface="Arial" pitchFamily="34" charset="-120"/>
              </a:rPr>
              <a:t>Everywhere after.</a:t>
            </a:r>
            <a:endParaRPr lang="en-US" sz="1800" dirty="0"/>
          </a:p>
        </p:txBody>
      </p:sp>
      <p:sp>
        <p:nvSpPr>
          <p:cNvPr id="6" name="Shape 4"/>
          <p:cNvSpPr/>
          <p:nvPr/>
        </p:nvSpPr>
        <p:spPr>
          <a:xfrm>
            <a:off x="548640" y="1874520"/>
            <a:ext cx="8046720" cy="804672"/>
          </a:xfrm>
          <a:prstGeom prst="roundRect">
            <a:avLst>
              <a:gd name="adj" fmla="val 7955"/>
            </a:avLst>
          </a:prstGeom>
          <a:solidFill>
            <a:srgbClr val="003087"/>
          </a:solidFill>
          <a:ln/>
        </p:spPr>
      </p:sp>
      <p:sp>
        <p:nvSpPr>
          <p:cNvPr id="7" name="Text 5"/>
          <p:cNvSpPr/>
          <p:nvPr/>
        </p:nvSpPr>
        <p:spPr>
          <a:xfrm>
            <a:off x="777240" y="1874520"/>
            <a:ext cx="457200" cy="804672"/>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1</a:t>
            </a:r>
            <a:endParaRPr lang="en-US" sz="2800" dirty="0"/>
          </a:p>
        </p:txBody>
      </p:sp>
      <p:sp>
        <p:nvSpPr>
          <p:cNvPr id="8" name="Text 6"/>
          <p:cNvSpPr/>
          <p:nvPr/>
        </p:nvSpPr>
        <p:spPr>
          <a:xfrm>
            <a:off x="1371600" y="1874520"/>
            <a:ext cx="7040880" cy="804672"/>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Headlines &amp; hero sections   </a:t>
            </a:r>
            <a:pPr indent="0" marL="0">
              <a:buNone/>
            </a:pPr>
            <a:r>
              <a:rPr lang="en-US" sz="1300" dirty="0">
                <a:solidFill>
                  <a:srgbClr val="B5D4F4"/>
                </a:solidFill>
                <a:latin typeface="Arial" pitchFamily="34" charset="0"/>
                <a:ea typeface="Arial" pitchFamily="34" charset="-122"/>
                <a:cs typeface="Arial" pitchFamily="34" charset="-120"/>
              </a:rPr>
              <a:t>The Indonesia specialty always leads. Never “global” in a headline.</a:t>
            </a:r>
            <a:endParaRPr lang="en-US" sz="1300" dirty="0"/>
          </a:p>
        </p:txBody>
      </p:sp>
      <p:sp>
        <p:nvSpPr>
          <p:cNvPr id="9" name="Shape 7"/>
          <p:cNvSpPr/>
          <p:nvPr/>
        </p:nvSpPr>
        <p:spPr>
          <a:xfrm>
            <a:off x="548640" y="2807208"/>
            <a:ext cx="8046720" cy="804672"/>
          </a:xfrm>
          <a:prstGeom prst="roundRect">
            <a:avLst>
              <a:gd name="adj" fmla="val 7955"/>
            </a:avLst>
          </a:prstGeom>
          <a:solidFill>
            <a:srgbClr val="E8F1FD"/>
          </a:solidFill>
          <a:ln/>
        </p:spPr>
      </p:sp>
      <p:sp>
        <p:nvSpPr>
          <p:cNvPr id="10" name="Text 8"/>
          <p:cNvSpPr/>
          <p:nvPr/>
        </p:nvSpPr>
        <p:spPr>
          <a:xfrm>
            <a:off x="777240" y="2807208"/>
            <a:ext cx="457200" cy="804672"/>
          </a:xfrm>
          <a:prstGeom prst="rect">
            <a:avLst/>
          </a:prstGeom>
          <a:noFill/>
          <a:ln/>
        </p:spPr>
        <p:txBody>
          <a:bodyPr wrap="square" rtlCol="0" anchor="ctr"/>
          <a:lstStyle/>
          <a:p>
            <a:pPr indent="0" marL="0">
              <a:buNone/>
            </a:pPr>
            <a:r>
              <a:rPr lang="en-US" sz="2800" b="1" dirty="0">
                <a:solidFill>
                  <a:srgbClr val="0061E0"/>
                </a:solidFill>
                <a:latin typeface="Arial" pitchFamily="34" charset="0"/>
                <a:ea typeface="Arial" pitchFamily="34" charset="-122"/>
                <a:cs typeface="Arial" pitchFamily="34" charset="-120"/>
              </a:rPr>
              <a:t>2</a:t>
            </a:r>
            <a:endParaRPr lang="en-US" sz="2800" dirty="0"/>
          </a:p>
        </p:txBody>
      </p:sp>
      <p:sp>
        <p:nvSpPr>
          <p:cNvPr id="11" name="Text 9"/>
          <p:cNvSpPr/>
          <p:nvPr/>
        </p:nvSpPr>
        <p:spPr>
          <a:xfrm>
            <a:off x="1371600" y="2807208"/>
            <a:ext cx="7040880" cy="804672"/>
          </a:xfrm>
          <a:prstGeom prst="rect">
            <a:avLst/>
          </a:prstGeom>
          <a:noFill/>
          <a:ln/>
        </p:spPr>
        <p:txBody>
          <a:bodyPr wrap="square" rtlCol="0" anchor="ctr"/>
          <a:lstStyle/>
          <a:p>
            <a:pPr indent="0" marL="0">
              <a:buNone/>
            </a:pPr>
            <a:r>
              <a:rPr lang="en-US" sz="1300" b="1" dirty="0">
                <a:solidFill>
                  <a:srgbClr val="003087"/>
                </a:solidFill>
                <a:latin typeface="Arial" pitchFamily="34" charset="0"/>
                <a:ea typeface="Arial" pitchFamily="34" charset="-122"/>
                <a:cs typeface="Arial" pitchFamily="34" charset="-120"/>
              </a:rPr>
              <a:t>Second sentence   </a:t>
            </a:r>
            <a:pPr indent="0" marL="0">
              <a:buNone/>
            </a:pPr>
            <a:r>
              <a:rPr lang="en-US" sz="1300" dirty="0">
                <a:solidFill>
                  <a:srgbClr val="5A6B80"/>
                </a:solidFill>
                <a:latin typeface="Arial" pitchFamily="34" charset="0"/>
                <a:ea typeface="Arial" pitchFamily="34" charset="-122"/>
                <a:cs typeface="Arial" pitchFamily="34" charset="-120"/>
              </a:rPr>
              <a:t>“And when your supply chain goes beyond Indonesia, so do we.” Worldwide lanes, FCL &amp; LCL.</a:t>
            </a:r>
            <a:endParaRPr lang="en-US" sz="1300" dirty="0"/>
          </a:p>
        </p:txBody>
      </p:sp>
      <p:sp>
        <p:nvSpPr>
          <p:cNvPr id="12" name="Shape 10"/>
          <p:cNvSpPr/>
          <p:nvPr/>
        </p:nvSpPr>
        <p:spPr>
          <a:xfrm>
            <a:off x="548640" y="3739896"/>
            <a:ext cx="8046720" cy="804672"/>
          </a:xfrm>
          <a:prstGeom prst="roundRect">
            <a:avLst>
              <a:gd name="adj" fmla="val 7955"/>
            </a:avLst>
          </a:prstGeom>
          <a:solidFill>
            <a:srgbClr val="FFFFFF"/>
          </a:solidFill>
          <a:ln w="12700">
            <a:solidFill>
              <a:srgbClr val="D9E1EA"/>
            </a:solidFill>
            <a:prstDash val="solid"/>
          </a:ln>
        </p:spPr>
      </p:sp>
      <p:sp>
        <p:nvSpPr>
          <p:cNvPr id="13" name="Text 11"/>
          <p:cNvSpPr/>
          <p:nvPr/>
        </p:nvSpPr>
        <p:spPr>
          <a:xfrm>
            <a:off x="777240" y="3739896"/>
            <a:ext cx="457200" cy="804672"/>
          </a:xfrm>
          <a:prstGeom prst="rect">
            <a:avLst/>
          </a:prstGeom>
          <a:noFill/>
          <a:ln/>
        </p:spPr>
        <p:txBody>
          <a:bodyPr wrap="square" rtlCol="0" anchor="ctr"/>
          <a:lstStyle/>
          <a:p>
            <a:pPr indent="0" marL="0">
              <a:buNone/>
            </a:pPr>
            <a:r>
              <a:rPr lang="en-US" sz="2800" b="1" dirty="0">
                <a:solidFill>
                  <a:srgbClr val="0061E0"/>
                </a:solidFill>
                <a:latin typeface="Arial" pitchFamily="34" charset="0"/>
                <a:ea typeface="Arial" pitchFamily="34" charset="-122"/>
                <a:cs typeface="Arial" pitchFamily="34" charset="-120"/>
              </a:rPr>
              <a:t>3</a:t>
            </a:r>
            <a:endParaRPr lang="en-US" sz="2800" dirty="0"/>
          </a:p>
        </p:txBody>
      </p:sp>
      <p:sp>
        <p:nvSpPr>
          <p:cNvPr id="14" name="Text 12"/>
          <p:cNvSpPr/>
          <p:nvPr/>
        </p:nvSpPr>
        <p:spPr>
          <a:xfrm>
            <a:off x="1371600" y="3739896"/>
            <a:ext cx="7040880" cy="804672"/>
          </a:xfrm>
          <a:prstGeom prst="rect">
            <a:avLst/>
          </a:prstGeom>
          <a:noFill/>
          <a:ln/>
        </p:spPr>
        <p:txBody>
          <a:bodyPr wrap="square" rtlCol="0" anchor="ctr"/>
          <a:lstStyle/>
          <a:p>
            <a:pPr indent="0" marL="0">
              <a:buNone/>
            </a:pPr>
            <a:r>
              <a:rPr lang="en-US" sz="1300" b="1" dirty="0">
                <a:solidFill>
                  <a:srgbClr val="003087"/>
                </a:solidFill>
                <a:latin typeface="Arial" pitchFamily="34" charset="0"/>
                <a:ea typeface="Arial" pitchFamily="34" charset="-122"/>
                <a:cs typeface="Arial" pitchFamily="34" charset="-120"/>
              </a:rPr>
              <a:t>Supporting details   </a:t>
            </a:r>
            <a:pPr indent="0" marL="0">
              <a:buNone/>
            </a:pPr>
            <a:r>
              <a:rPr lang="en-US" sz="1300" dirty="0">
                <a:solidFill>
                  <a:srgbClr val="5A6B80"/>
                </a:solidFill>
                <a:latin typeface="Arial" pitchFamily="34" charset="0"/>
                <a:ea typeface="Arial" pitchFamily="34" charset="-122"/>
                <a:cs typeface="Arial" pitchFamily="34" charset="-120"/>
              </a:rPr>
              <a:t>Lane lists, global coverage, compliance capabilities. Proof, never the headline.</a:t>
            </a:r>
            <a:endParaRPr lang="en-US" sz="1300" dirty="0"/>
          </a:p>
        </p:txBody>
      </p:sp>
      <p:sp>
        <p:nvSpPr>
          <p:cNvPr id="15" name="Text 13"/>
          <p:cNvSpPr/>
          <p:nvPr/>
        </p:nvSpPr>
        <p:spPr>
          <a:xfrm>
            <a:off x="548640" y="4736592"/>
            <a:ext cx="8046720" cy="320040"/>
          </a:xfrm>
          <a:prstGeom prst="rect">
            <a:avLst/>
          </a:prstGeom>
          <a:noFill/>
          <a:ln/>
        </p:spPr>
        <p:txBody>
          <a:bodyPr wrap="square" rtlCol="0" anchor="ctr"/>
          <a:lstStyle/>
          <a:p>
            <a:pPr indent="0" marL="0">
              <a:buNone/>
            </a:pPr>
            <a:r>
              <a:rPr lang="en-US" sz="1100" i="1" dirty="0">
                <a:solidFill>
                  <a:srgbClr val="5A6B80"/>
                </a:solidFill>
                <a:latin typeface="Arial" pitchFamily="34" charset="0"/>
                <a:ea typeface="Arial" pitchFamily="34" charset="-122"/>
                <a:cs typeface="Arial" pitchFamily="34" charset="-120"/>
              </a:rPr>
              <a:t>The tagline travels with the logo everywhere. In sales headlines, the specialty leads. That is tier 1.</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37744"/>
            <a:ext cx="5486400" cy="256032"/>
          </a:xfrm>
          <a:prstGeom prst="rect">
            <a:avLst/>
          </a:prstGeom>
          <a:noFill/>
          <a:ln/>
        </p:spPr>
        <p:txBody>
          <a:bodyPr wrap="square" rtlCol="0" anchor="ctr"/>
          <a:lstStyle/>
          <a:p>
            <a:pPr indent="0" marL="0">
              <a:buNone/>
            </a:pPr>
            <a:r>
              <a:rPr lang="en-US" sz="1000" b="1" spc="400" kern="0" dirty="0">
                <a:solidFill>
                  <a:srgbClr val="5A6B80"/>
                </a:solidFill>
                <a:latin typeface="Arial" pitchFamily="34" charset="0"/>
                <a:ea typeface="Arial" pitchFamily="34" charset="-122"/>
                <a:cs typeface="Arial" pitchFamily="34" charset="-120"/>
              </a:rPr>
              <a:t>05  ·  THE PROMISE</a:t>
            </a:r>
            <a:endParaRPr lang="en-US" sz="1000" dirty="0"/>
          </a:p>
        </p:txBody>
      </p:sp>
      <p:sp>
        <p:nvSpPr>
          <p:cNvPr id="3" name="Text 1"/>
          <p:cNvSpPr/>
          <p:nvPr/>
        </p:nvSpPr>
        <p:spPr>
          <a:xfrm>
            <a:off x="8046720" y="237744"/>
            <a:ext cx="548640" cy="256032"/>
          </a:xfrm>
          <a:prstGeom prst="rect">
            <a:avLst/>
          </a:prstGeom>
          <a:noFill/>
          <a:ln/>
        </p:spPr>
        <p:txBody>
          <a:bodyPr wrap="square" rtlCol="0" anchor="ctr"/>
          <a:lstStyle/>
          <a:p>
            <a:pPr algn="r" indent="0" marL="0">
              <a:buNone/>
            </a:pPr>
            <a:r>
              <a:rPr lang="en-US" sz="1000" spc="200" kern="0" dirty="0">
                <a:solidFill>
                  <a:srgbClr val="5A6B80"/>
                </a:solidFill>
                <a:latin typeface="Arial" pitchFamily="34" charset="0"/>
                <a:ea typeface="Arial" pitchFamily="34" charset="-122"/>
                <a:cs typeface="Arial" pitchFamily="34" charset="-120"/>
              </a:rPr>
              <a:t>06</a:t>
            </a:r>
            <a:endParaRPr lang="en-US" sz="1000" dirty="0"/>
          </a:p>
        </p:txBody>
      </p:sp>
      <p:sp>
        <p:nvSpPr>
          <p:cNvPr id="4" name="Text 2"/>
          <p:cNvSpPr/>
          <p:nvPr/>
        </p:nvSpPr>
        <p:spPr>
          <a:xfrm>
            <a:off x="548640" y="512064"/>
            <a:ext cx="8046720" cy="475488"/>
          </a:xfrm>
          <a:prstGeom prst="rect">
            <a:avLst/>
          </a:prstGeom>
          <a:noFill/>
          <a:ln/>
        </p:spPr>
        <p:txBody>
          <a:bodyPr wrap="square" rtlCol="0" anchor="ctr"/>
          <a:lstStyle/>
          <a:p>
            <a:pPr indent="0" marL="0">
              <a:buNone/>
            </a:pPr>
            <a:r>
              <a:rPr lang="en-US" sz="2700" b="1" dirty="0">
                <a:solidFill>
                  <a:srgbClr val="003087"/>
                </a:solidFill>
                <a:latin typeface="Arial" pitchFamily="34" charset="0"/>
                <a:ea typeface="Arial" pitchFamily="34" charset="-122"/>
                <a:cs typeface="Arial" pitchFamily="34" charset="-120"/>
              </a:rPr>
              <a:t>What we promise, in order</a:t>
            </a:r>
            <a:endParaRPr lang="en-US" sz="2700" dirty="0"/>
          </a:p>
        </p:txBody>
      </p:sp>
      <p:sp>
        <p:nvSpPr>
          <p:cNvPr id="5" name="Shape 3"/>
          <p:cNvSpPr/>
          <p:nvPr/>
        </p:nvSpPr>
        <p:spPr>
          <a:xfrm>
            <a:off x="548640" y="1325880"/>
            <a:ext cx="3886200" cy="3108960"/>
          </a:xfrm>
          <a:prstGeom prst="roundRect">
            <a:avLst>
              <a:gd name="adj" fmla="val 2353"/>
            </a:avLst>
          </a:prstGeom>
          <a:solidFill>
            <a:srgbClr val="003087"/>
          </a:solidFill>
          <a:ln/>
        </p:spPr>
      </p:sp>
      <p:pic>
        <p:nvPicPr>
          <p:cNvPr id="6" name="Image 0" descr="preencoded.png">    </p:cNvPr>
          <p:cNvPicPr>
            <a:picLocks noChangeAspect="1"/>
          </p:cNvPicPr>
          <p:nvPr/>
        </p:nvPicPr>
        <p:blipFill>
          <a:blip r:embed="rId1"/>
          <a:stretch>
            <a:fillRect/>
          </a:stretch>
        </p:blipFill>
        <p:spPr>
          <a:xfrm>
            <a:off x="868680" y="1645920"/>
            <a:ext cx="502920" cy="502920"/>
          </a:xfrm>
          <a:prstGeom prst="rect">
            <a:avLst/>
          </a:prstGeom>
        </p:spPr>
      </p:pic>
      <p:sp>
        <p:nvSpPr>
          <p:cNvPr id="7" name="Text 4"/>
          <p:cNvSpPr/>
          <p:nvPr/>
        </p:nvSpPr>
        <p:spPr>
          <a:xfrm>
            <a:off x="868680" y="2286000"/>
            <a:ext cx="3291840" cy="685800"/>
          </a:xfrm>
          <a:prstGeom prst="rect">
            <a:avLst/>
          </a:prstGeom>
          <a:noFill/>
          <a:ln/>
        </p:spPr>
        <p:txBody>
          <a:bodyPr wrap="square" rtlCol="0" anchor="ctr"/>
          <a:lstStyle/>
          <a:p>
            <a:pPr indent="0" marL="0">
              <a:buNone/>
            </a:pPr>
            <a:r>
              <a:rPr lang="en-US" sz="1700" b="1" dirty="0">
                <a:solidFill>
                  <a:srgbClr val="FFFFFF"/>
                </a:solidFill>
                <a:latin typeface="Arial" pitchFamily="34" charset="0"/>
                <a:ea typeface="Arial" pitchFamily="34" charset="-122"/>
                <a:cs typeface="Arial" pitchFamily="34" charset="-120"/>
              </a:rPr>
              <a:t>1. Ownership-level accountability</a:t>
            </a:r>
            <a:endParaRPr lang="en-US" sz="1700" dirty="0"/>
          </a:p>
        </p:txBody>
      </p:sp>
      <p:sp>
        <p:nvSpPr>
          <p:cNvPr id="8" name="Text 5"/>
          <p:cNvSpPr/>
          <p:nvPr/>
        </p:nvSpPr>
        <p:spPr>
          <a:xfrm>
            <a:off x="868680" y="3017520"/>
            <a:ext cx="3291840" cy="1280160"/>
          </a:xfrm>
          <a:prstGeom prst="rect">
            <a:avLst/>
          </a:prstGeom>
          <a:noFill/>
          <a:ln/>
        </p:spPr>
        <p:txBody>
          <a:bodyPr wrap="square" rtlCol="0" anchor="ctr"/>
          <a:lstStyle/>
          <a:p>
            <a:pPr indent="0" marL="0">
              <a:lnSpc>
                <a:spcPts val="1700"/>
              </a:lnSpc>
              <a:buNone/>
            </a:pPr>
            <a:r>
              <a:rPr lang="en-US" sz="1200" dirty="0">
                <a:solidFill>
                  <a:srgbClr val="B5D4F4"/>
                </a:solidFill>
                <a:latin typeface="Arial" pitchFamily="34" charset="0"/>
                <a:ea typeface="Arial" pitchFamily="34" charset="-122"/>
                <a:cs typeface="Arial" pitchFamily="34" charset="-120"/>
              </a:rPr>
              <a:t>Every client gets a dedicated account manager: one name, one number, owning the shipment end-to-end. Per client, not per shipment. We promise what we can keep.</a:t>
            </a:r>
            <a:endParaRPr lang="en-US" sz="1200" dirty="0"/>
          </a:p>
        </p:txBody>
      </p:sp>
      <p:sp>
        <p:nvSpPr>
          <p:cNvPr id="9" name="Shape 6"/>
          <p:cNvSpPr/>
          <p:nvPr/>
        </p:nvSpPr>
        <p:spPr>
          <a:xfrm>
            <a:off x="4709160" y="1325880"/>
            <a:ext cx="3886200" cy="3108960"/>
          </a:xfrm>
          <a:prstGeom prst="roundRect">
            <a:avLst>
              <a:gd name="adj" fmla="val 2353"/>
            </a:avLst>
          </a:prstGeom>
          <a:solidFill>
            <a:srgbClr val="FFFFFF"/>
          </a:solidFill>
          <a:ln w="12700">
            <a:solidFill>
              <a:srgbClr val="D9E1EA"/>
            </a:solidFill>
            <a:prstDash val="solid"/>
          </a:ln>
        </p:spPr>
      </p:sp>
      <p:pic>
        <p:nvPicPr>
          <p:cNvPr id="10" name="Image 1" descr="preencoded.png">    </p:cNvPr>
          <p:cNvPicPr>
            <a:picLocks noChangeAspect="1"/>
          </p:cNvPicPr>
          <p:nvPr/>
        </p:nvPicPr>
        <p:blipFill>
          <a:blip r:embed="rId2"/>
          <a:stretch>
            <a:fillRect/>
          </a:stretch>
        </p:blipFill>
        <p:spPr>
          <a:xfrm>
            <a:off x="5029200" y="1645920"/>
            <a:ext cx="502920" cy="502920"/>
          </a:xfrm>
          <a:prstGeom prst="rect">
            <a:avLst/>
          </a:prstGeom>
        </p:spPr>
      </p:pic>
      <p:sp>
        <p:nvSpPr>
          <p:cNvPr id="11" name="Text 7"/>
          <p:cNvSpPr/>
          <p:nvPr/>
        </p:nvSpPr>
        <p:spPr>
          <a:xfrm>
            <a:off x="5029200" y="2286000"/>
            <a:ext cx="3291840" cy="685800"/>
          </a:xfrm>
          <a:prstGeom prst="rect">
            <a:avLst/>
          </a:prstGeom>
          <a:noFill/>
          <a:ln/>
        </p:spPr>
        <p:txBody>
          <a:bodyPr wrap="square" rtlCol="0" anchor="ctr"/>
          <a:lstStyle/>
          <a:p>
            <a:pPr indent="0" marL="0">
              <a:buNone/>
            </a:pPr>
            <a:r>
              <a:rPr lang="en-US" sz="1700" b="1" dirty="0">
                <a:solidFill>
                  <a:srgbClr val="003087"/>
                </a:solidFill>
                <a:latin typeface="Arial" pitchFamily="34" charset="0"/>
                <a:ea typeface="Arial" pitchFamily="34" charset="-122"/>
                <a:cs typeface="Arial" pitchFamily="34" charset="-120"/>
              </a:rPr>
              <a:t>2. Responsiveness</a:t>
            </a:r>
            <a:endParaRPr lang="en-US" sz="1700" dirty="0"/>
          </a:p>
        </p:txBody>
      </p:sp>
      <p:sp>
        <p:nvSpPr>
          <p:cNvPr id="12" name="Text 8"/>
          <p:cNvSpPr/>
          <p:nvPr/>
        </p:nvSpPr>
        <p:spPr>
          <a:xfrm>
            <a:off x="5029200" y="3017520"/>
            <a:ext cx="3291840" cy="1371600"/>
          </a:xfrm>
          <a:prstGeom prst="rect">
            <a:avLst/>
          </a:prstGeom>
          <a:noFill/>
          <a:ln/>
        </p:spPr>
        <p:txBody>
          <a:bodyPr wrap="square" rtlCol="0" anchor="ctr"/>
          <a:lstStyle/>
          <a:p>
            <a:pPr indent="0" marL="0">
              <a:lnSpc>
                <a:spcPts val="1700"/>
              </a:lnSpc>
              <a:buNone/>
            </a:pPr>
            <a:r>
              <a:rPr lang="en-US" sz="1200" dirty="0">
                <a:solidFill>
                  <a:srgbClr val="11203A"/>
                </a:solidFill>
                <a:latin typeface="Arial" pitchFamily="34" charset="0"/>
                <a:ea typeface="Arial" pitchFamily="34" charset="-122"/>
                <a:cs typeface="Arial" pitchFamily="34" charset="-120"/>
              </a:rPr>
              <a:t>Quotes within one business day via the online estimator, often within the hour when rates are in hand. If we take longer, it’s because we’re hunting you a better rate, and we tell you so.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37744"/>
            <a:ext cx="5486400" cy="256032"/>
          </a:xfrm>
          <a:prstGeom prst="rect">
            <a:avLst/>
          </a:prstGeom>
          <a:noFill/>
          <a:ln/>
        </p:spPr>
        <p:txBody>
          <a:bodyPr wrap="square" rtlCol="0" anchor="ctr"/>
          <a:lstStyle/>
          <a:p>
            <a:pPr indent="0" marL="0">
              <a:buNone/>
            </a:pPr>
            <a:r>
              <a:rPr lang="en-US" sz="1000" b="1" spc="400" kern="0" dirty="0">
                <a:solidFill>
                  <a:srgbClr val="5A6B80"/>
                </a:solidFill>
                <a:latin typeface="Arial" pitchFamily="34" charset="0"/>
                <a:ea typeface="Arial" pitchFamily="34" charset="-122"/>
                <a:cs typeface="Arial" pitchFamily="34" charset="-120"/>
              </a:rPr>
              <a:t>06  ·  VOICE</a:t>
            </a:r>
            <a:endParaRPr lang="en-US" sz="1000" dirty="0"/>
          </a:p>
        </p:txBody>
      </p:sp>
      <p:sp>
        <p:nvSpPr>
          <p:cNvPr id="3" name="Text 1"/>
          <p:cNvSpPr/>
          <p:nvPr/>
        </p:nvSpPr>
        <p:spPr>
          <a:xfrm>
            <a:off x="8046720" y="237744"/>
            <a:ext cx="548640" cy="256032"/>
          </a:xfrm>
          <a:prstGeom prst="rect">
            <a:avLst/>
          </a:prstGeom>
          <a:noFill/>
          <a:ln/>
        </p:spPr>
        <p:txBody>
          <a:bodyPr wrap="square" rtlCol="0" anchor="ctr"/>
          <a:lstStyle/>
          <a:p>
            <a:pPr algn="r" indent="0" marL="0">
              <a:buNone/>
            </a:pPr>
            <a:r>
              <a:rPr lang="en-US" sz="1000" spc="200" kern="0" dirty="0">
                <a:solidFill>
                  <a:srgbClr val="5A6B80"/>
                </a:solidFill>
                <a:latin typeface="Arial" pitchFamily="34" charset="0"/>
                <a:ea typeface="Arial" pitchFamily="34" charset="-122"/>
                <a:cs typeface="Arial" pitchFamily="34" charset="-120"/>
              </a:rPr>
              <a:t>07</a:t>
            </a:r>
            <a:endParaRPr lang="en-US" sz="1000" dirty="0"/>
          </a:p>
        </p:txBody>
      </p:sp>
      <p:sp>
        <p:nvSpPr>
          <p:cNvPr id="4" name="Text 2"/>
          <p:cNvSpPr/>
          <p:nvPr/>
        </p:nvSpPr>
        <p:spPr>
          <a:xfrm>
            <a:off x="548640" y="512064"/>
            <a:ext cx="8046720" cy="475488"/>
          </a:xfrm>
          <a:prstGeom prst="rect">
            <a:avLst/>
          </a:prstGeom>
          <a:noFill/>
          <a:ln/>
        </p:spPr>
        <p:txBody>
          <a:bodyPr wrap="square" rtlCol="0" anchor="ctr"/>
          <a:lstStyle/>
          <a:p>
            <a:pPr indent="0" marL="0">
              <a:buNone/>
            </a:pPr>
            <a:r>
              <a:rPr lang="en-US" sz="2700" b="1" dirty="0">
                <a:solidFill>
                  <a:srgbClr val="003087"/>
                </a:solidFill>
                <a:latin typeface="Arial" pitchFamily="34" charset="0"/>
                <a:ea typeface="Arial" pitchFamily="34" charset="-122"/>
                <a:cs typeface="Arial" pitchFamily="34" charset="-120"/>
              </a:rPr>
              <a:t>How we sound</a:t>
            </a:r>
            <a:endParaRPr lang="en-US" sz="2700" dirty="0"/>
          </a:p>
        </p:txBody>
      </p:sp>
      <p:sp>
        <p:nvSpPr>
          <p:cNvPr id="5" name="Text 3"/>
          <p:cNvSpPr/>
          <p:nvPr/>
        </p:nvSpPr>
        <p:spPr>
          <a:xfrm>
            <a:off x="548640" y="1143000"/>
            <a:ext cx="8046720" cy="411480"/>
          </a:xfrm>
          <a:prstGeom prst="rect">
            <a:avLst/>
          </a:prstGeom>
          <a:noFill/>
          <a:ln/>
        </p:spPr>
        <p:txBody>
          <a:bodyPr wrap="square" rtlCol="0" anchor="ctr"/>
          <a:lstStyle/>
          <a:p>
            <a:pPr indent="0" marL="0">
              <a:buNone/>
            </a:pPr>
            <a:r>
              <a:rPr lang="en-US" sz="1600" i="1" dirty="0">
                <a:solidFill>
                  <a:srgbClr val="0061E0"/>
                </a:solidFill>
                <a:latin typeface="Arial" pitchFamily="34" charset="0"/>
                <a:ea typeface="Arial" pitchFamily="34" charset="-122"/>
                <a:cs typeface="Arial" pitchFamily="34" charset="-120"/>
              </a:rPr>
              <a:t>The expert who tells you the truth before you’ve paid for it.</a:t>
            </a:r>
            <a:endParaRPr lang="en-US" sz="1600" dirty="0"/>
          </a:p>
        </p:txBody>
      </p:sp>
      <p:pic>
        <p:nvPicPr>
          <p:cNvPr id="6" name="Image 0" descr="preencoded.png">    </p:cNvPr>
          <p:cNvPicPr>
            <a:picLocks noChangeAspect="1"/>
          </p:cNvPicPr>
          <p:nvPr/>
        </p:nvPicPr>
        <p:blipFill>
          <a:blip r:embed="rId1"/>
          <a:stretch>
            <a:fillRect/>
          </a:stretch>
        </p:blipFill>
        <p:spPr>
          <a:xfrm>
            <a:off x="640080" y="1847088"/>
            <a:ext cx="411480" cy="411480"/>
          </a:xfrm>
          <a:prstGeom prst="rect">
            <a:avLst/>
          </a:prstGeom>
        </p:spPr>
      </p:pic>
      <p:sp>
        <p:nvSpPr>
          <p:cNvPr id="7" name="Text 4"/>
          <p:cNvSpPr/>
          <p:nvPr/>
        </p:nvSpPr>
        <p:spPr>
          <a:xfrm>
            <a:off x="1234440" y="1737360"/>
            <a:ext cx="7315200" cy="731520"/>
          </a:xfrm>
          <a:prstGeom prst="rect">
            <a:avLst/>
          </a:prstGeom>
          <a:noFill/>
          <a:ln/>
        </p:spPr>
        <p:txBody>
          <a:bodyPr wrap="square" rtlCol="0" anchor="ctr"/>
          <a:lstStyle/>
          <a:p>
            <a:pPr indent="0" marL="0">
              <a:lnSpc>
                <a:spcPts val="1900"/>
              </a:lnSpc>
              <a:buNone/>
            </a:pPr>
            <a:r>
              <a:rPr lang="en-US" sz="1400" b="1" dirty="0">
                <a:solidFill>
                  <a:srgbClr val="003087"/>
                </a:solidFill>
                <a:latin typeface="Arial" pitchFamily="34" charset="0"/>
                <a:ea typeface="Arial" pitchFamily="34" charset="-122"/>
                <a:cs typeface="Arial" pitchFamily="34" charset="-120"/>
              </a:rPr>
              <a:t>Lead with the answer.   </a:t>
            </a:r>
            <a:pPr indent="0" marL="0">
              <a:lnSpc>
                <a:spcPts val="1900"/>
              </a:lnSpc>
              <a:buNone/>
            </a:pPr>
            <a:r>
              <a:rPr lang="en-US" sz="1400" dirty="0">
                <a:solidFill>
                  <a:srgbClr val="11203A"/>
                </a:solidFill>
                <a:latin typeface="Arial" pitchFamily="34" charset="0"/>
                <a:ea typeface="Arial" pitchFamily="34" charset="-122"/>
                <a:cs typeface="Arial" pitchFamily="34" charset="-120"/>
              </a:rPr>
              <a:t>Then the reason. Clients are busy and anxious, so never bury the headline.</a:t>
            </a:r>
            <a:endParaRPr lang="en-US" sz="1400" dirty="0"/>
          </a:p>
        </p:txBody>
      </p:sp>
      <p:pic>
        <p:nvPicPr>
          <p:cNvPr id="8" name="Image 1" descr="preencoded.png">    </p:cNvPr>
          <p:cNvPicPr>
            <a:picLocks noChangeAspect="1"/>
          </p:cNvPicPr>
          <p:nvPr/>
        </p:nvPicPr>
        <p:blipFill>
          <a:blip r:embed="rId2"/>
          <a:stretch>
            <a:fillRect/>
          </a:stretch>
        </p:blipFill>
        <p:spPr>
          <a:xfrm>
            <a:off x="640080" y="2697480"/>
            <a:ext cx="411480" cy="411480"/>
          </a:xfrm>
          <a:prstGeom prst="rect">
            <a:avLst/>
          </a:prstGeom>
        </p:spPr>
      </p:pic>
      <p:sp>
        <p:nvSpPr>
          <p:cNvPr id="9" name="Text 5"/>
          <p:cNvSpPr/>
          <p:nvPr/>
        </p:nvSpPr>
        <p:spPr>
          <a:xfrm>
            <a:off x="1234440" y="2587752"/>
            <a:ext cx="7315200" cy="731520"/>
          </a:xfrm>
          <a:prstGeom prst="rect">
            <a:avLst/>
          </a:prstGeom>
          <a:noFill/>
          <a:ln/>
        </p:spPr>
        <p:txBody>
          <a:bodyPr wrap="square" rtlCol="0" anchor="ctr"/>
          <a:lstStyle/>
          <a:p>
            <a:pPr indent="0" marL="0">
              <a:lnSpc>
                <a:spcPts val="1900"/>
              </a:lnSpc>
              <a:buNone/>
            </a:pPr>
            <a:r>
              <a:rPr lang="en-US" sz="1400" b="1" dirty="0">
                <a:solidFill>
                  <a:srgbClr val="003087"/>
                </a:solidFill>
                <a:latin typeface="Arial" pitchFamily="34" charset="0"/>
                <a:ea typeface="Arial" pitchFamily="34" charset="-122"/>
                <a:cs typeface="Arial" pitchFamily="34" charset="-120"/>
              </a:rPr>
              <a:t>Bad news travels fastest.   </a:t>
            </a:r>
            <a:pPr indent="0" marL="0">
              <a:lnSpc>
                <a:spcPts val="1900"/>
              </a:lnSpc>
              <a:buNone/>
            </a:pPr>
            <a:r>
              <a:rPr lang="en-US" sz="1400" dirty="0">
                <a:solidFill>
                  <a:srgbClr val="11203A"/>
                </a:solidFill>
                <a:latin typeface="Arial" pitchFamily="34" charset="0"/>
                <a:ea typeface="Arial" pitchFamily="34" charset="-122"/>
                <a:cs typeface="Arial" pitchFamily="34" charset="-120"/>
              </a:rPr>
              <a:t>Delays and cost changes: the client hears it from us first, with the fix attached.</a:t>
            </a:r>
            <a:endParaRPr lang="en-US" sz="1400" dirty="0"/>
          </a:p>
        </p:txBody>
      </p:sp>
      <p:pic>
        <p:nvPicPr>
          <p:cNvPr id="10" name="Image 2" descr="preencoded.png">    </p:cNvPr>
          <p:cNvPicPr>
            <a:picLocks noChangeAspect="1"/>
          </p:cNvPicPr>
          <p:nvPr/>
        </p:nvPicPr>
        <p:blipFill>
          <a:blip r:embed="rId3"/>
          <a:stretch>
            <a:fillRect/>
          </a:stretch>
        </p:blipFill>
        <p:spPr>
          <a:xfrm>
            <a:off x="640080" y="3547872"/>
            <a:ext cx="411480" cy="411480"/>
          </a:xfrm>
          <a:prstGeom prst="rect">
            <a:avLst/>
          </a:prstGeom>
        </p:spPr>
      </p:pic>
      <p:sp>
        <p:nvSpPr>
          <p:cNvPr id="11" name="Text 6"/>
          <p:cNvSpPr/>
          <p:nvPr/>
        </p:nvSpPr>
        <p:spPr>
          <a:xfrm>
            <a:off x="1234440" y="3438144"/>
            <a:ext cx="7315200" cy="731520"/>
          </a:xfrm>
          <a:prstGeom prst="rect">
            <a:avLst/>
          </a:prstGeom>
          <a:noFill/>
          <a:ln/>
        </p:spPr>
        <p:txBody>
          <a:bodyPr wrap="square" rtlCol="0" anchor="ctr"/>
          <a:lstStyle/>
          <a:p>
            <a:pPr indent="0" marL="0">
              <a:lnSpc>
                <a:spcPts val="1900"/>
              </a:lnSpc>
              <a:buNone/>
            </a:pPr>
            <a:r>
              <a:rPr lang="en-US" sz="1400" b="1" dirty="0">
                <a:solidFill>
                  <a:srgbClr val="003087"/>
                </a:solidFill>
                <a:latin typeface="Arial" pitchFamily="34" charset="0"/>
                <a:ea typeface="Arial" pitchFamily="34" charset="-122"/>
                <a:cs typeface="Arial" pitchFamily="34" charset="-120"/>
              </a:rPr>
              <a:t>Plain words beat industry words.   </a:t>
            </a:r>
            <a:pPr indent="0" marL="0">
              <a:lnSpc>
                <a:spcPts val="1900"/>
              </a:lnSpc>
              <a:buNone/>
            </a:pPr>
            <a:r>
              <a:rPr lang="en-US" sz="1400" dirty="0">
                <a:solidFill>
                  <a:srgbClr val="11203A"/>
                </a:solidFill>
                <a:latin typeface="Arial" pitchFamily="34" charset="0"/>
                <a:ea typeface="Arial" pitchFamily="34" charset="-122"/>
                <a:cs typeface="Arial" pitchFamily="34" charset="-120"/>
              </a:rPr>
              <a:t>“Your shipment,” not “the consignment.” Jargon only when precise (FCL, HS code).</a:t>
            </a:r>
            <a:endParaRPr lang="en-US" sz="1400" dirty="0"/>
          </a:p>
        </p:txBody>
      </p:sp>
      <p:sp>
        <p:nvSpPr>
          <p:cNvPr id="12" name="Shape 7"/>
          <p:cNvSpPr/>
          <p:nvPr/>
        </p:nvSpPr>
        <p:spPr>
          <a:xfrm>
            <a:off x="548640" y="4343400"/>
            <a:ext cx="8046720" cy="548640"/>
          </a:xfrm>
          <a:prstGeom prst="roundRect">
            <a:avLst>
              <a:gd name="adj" fmla="val 11667"/>
            </a:avLst>
          </a:prstGeom>
          <a:solidFill>
            <a:srgbClr val="FFFFFF"/>
          </a:solidFill>
          <a:ln w="12700">
            <a:solidFill>
              <a:srgbClr val="D9E1EA"/>
            </a:solidFill>
            <a:prstDash val="solid"/>
          </a:ln>
        </p:spPr>
      </p:sp>
      <p:sp>
        <p:nvSpPr>
          <p:cNvPr id="13" name="Text 8"/>
          <p:cNvSpPr/>
          <p:nvPr/>
        </p:nvSpPr>
        <p:spPr>
          <a:xfrm>
            <a:off x="822960" y="4343400"/>
            <a:ext cx="7498080" cy="548640"/>
          </a:xfrm>
          <a:prstGeom prst="rect">
            <a:avLst/>
          </a:prstGeom>
          <a:noFill/>
          <a:ln/>
        </p:spPr>
        <p:txBody>
          <a:bodyPr wrap="square" rtlCol="0" anchor="ctr"/>
          <a:lstStyle/>
          <a:p>
            <a:pPr indent="0" marL="0">
              <a:buNone/>
            </a:pPr>
            <a:r>
              <a:rPr lang="en-US" sz="1200" b="1" dirty="0">
                <a:solidFill>
                  <a:srgbClr val="C0392B"/>
                </a:solidFill>
                <a:latin typeface="Arial" pitchFamily="34" charset="0"/>
                <a:ea typeface="Arial" pitchFamily="34" charset="-122"/>
                <a:cs typeface="Arial" pitchFamily="34" charset="-120"/>
              </a:rPr>
              <a:t>Banned: </a:t>
            </a:r>
            <a:pPr indent="0" marL="0">
              <a:buNone/>
            </a:pPr>
            <a:r>
              <a:rPr lang="en-US" sz="1200" dirty="0">
                <a:solidFill>
                  <a:srgbClr val="5A6B80"/>
                </a:solidFill>
                <a:latin typeface="Arial" pitchFamily="34" charset="0"/>
                <a:ea typeface="Arial" pitchFamily="34" charset="-122"/>
                <a:cs typeface="Arial" pitchFamily="34" charset="-120"/>
              </a:rPr>
              <a:t>world-class · synergy · solutions provider · revolutionary · cheapest · guaranteed · “We are pleased to inform you…”</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37744"/>
            <a:ext cx="5486400" cy="256032"/>
          </a:xfrm>
          <a:prstGeom prst="rect">
            <a:avLst/>
          </a:prstGeom>
          <a:noFill/>
          <a:ln/>
        </p:spPr>
        <p:txBody>
          <a:bodyPr wrap="square" rtlCol="0" anchor="ctr"/>
          <a:lstStyle/>
          <a:p>
            <a:pPr indent="0" marL="0">
              <a:buNone/>
            </a:pPr>
            <a:r>
              <a:rPr lang="en-US" sz="1000" b="1" spc="400" kern="0" dirty="0">
                <a:solidFill>
                  <a:srgbClr val="5A6B80"/>
                </a:solidFill>
                <a:latin typeface="Arial" pitchFamily="34" charset="0"/>
                <a:ea typeface="Arial" pitchFamily="34" charset="-122"/>
                <a:cs typeface="Arial" pitchFamily="34" charset="-120"/>
              </a:rPr>
              <a:t>07  ·  VOICE IN PRACTICE</a:t>
            </a:r>
            <a:endParaRPr lang="en-US" sz="1000" dirty="0"/>
          </a:p>
        </p:txBody>
      </p:sp>
      <p:sp>
        <p:nvSpPr>
          <p:cNvPr id="3" name="Text 1"/>
          <p:cNvSpPr/>
          <p:nvPr/>
        </p:nvSpPr>
        <p:spPr>
          <a:xfrm>
            <a:off x="8046720" y="237744"/>
            <a:ext cx="548640" cy="256032"/>
          </a:xfrm>
          <a:prstGeom prst="rect">
            <a:avLst/>
          </a:prstGeom>
          <a:noFill/>
          <a:ln/>
        </p:spPr>
        <p:txBody>
          <a:bodyPr wrap="square" rtlCol="0" anchor="ctr"/>
          <a:lstStyle/>
          <a:p>
            <a:pPr algn="r" indent="0" marL="0">
              <a:buNone/>
            </a:pPr>
            <a:r>
              <a:rPr lang="en-US" sz="1000" spc="200" kern="0" dirty="0">
                <a:solidFill>
                  <a:srgbClr val="5A6B80"/>
                </a:solidFill>
                <a:latin typeface="Arial" pitchFamily="34" charset="0"/>
                <a:ea typeface="Arial" pitchFamily="34" charset="-122"/>
                <a:cs typeface="Arial" pitchFamily="34" charset="-120"/>
              </a:rPr>
              <a:t>08</a:t>
            </a:r>
            <a:endParaRPr lang="en-US" sz="1000" dirty="0"/>
          </a:p>
        </p:txBody>
      </p:sp>
      <p:sp>
        <p:nvSpPr>
          <p:cNvPr id="4" name="Text 2"/>
          <p:cNvSpPr/>
          <p:nvPr/>
        </p:nvSpPr>
        <p:spPr>
          <a:xfrm>
            <a:off x="548640" y="512064"/>
            <a:ext cx="8046720" cy="475488"/>
          </a:xfrm>
          <a:prstGeom prst="rect">
            <a:avLst/>
          </a:prstGeom>
          <a:noFill/>
          <a:ln/>
        </p:spPr>
        <p:txBody>
          <a:bodyPr wrap="square" rtlCol="0" anchor="ctr"/>
          <a:lstStyle/>
          <a:p>
            <a:pPr indent="0" marL="0">
              <a:buNone/>
            </a:pPr>
            <a:r>
              <a:rPr lang="en-US" sz="2700" b="1" dirty="0">
                <a:solidFill>
                  <a:srgbClr val="003087"/>
                </a:solidFill>
                <a:latin typeface="Arial" pitchFamily="34" charset="0"/>
                <a:ea typeface="Arial" pitchFamily="34" charset="-122"/>
                <a:cs typeface="Arial" pitchFamily="34" charset="-120"/>
              </a:rPr>
              <a:t>We say  /  we never say</a:t>
            </a:r>
            <a:endParaRPr lang="en-US" sz="2700" dirty="0"/>
          </a:p>
        </p:txBody>
      </p:sp>
      <p:sp>
        <p:nvSpPr>
          <p:cNvPr id="5" name="Text 3"/>
          <p:cNvSpPr/>
          <p:nvPr/>
        </p:nvSpPr>
        <p:spPr>
          <a:xfrm>
            <a:off x="548640" y="1115568"/>
            <a:ext cx="3886200" cy="292608"/>
          </a:xfrm>
          <a:prstGeom prst="rect">
            <a:avLst/>
          </a:prstGeom>
          <a:noFill/>
          <a:ln/>
        </p:spPr>
        <p:txBody>
          <a:bodyPr wrap="square" rtlCol="0" anchor="ctr"/>
          <a:lstStyle/>
          <a:p>
            <a:pPr indent="0" marL="0">
              <a:buNone/>
            </a:pPr>
            <a:r>
              <a:rPr lang="en-US" sz="1200" b="1" spc="300" kern="0" dirty="0">
                <a:solidFill>
                  <a:srgbClr val="1D7A4F"/>
                </a:solidFill>
                <a:latin typeface="Arial" pitchFamily="34" charset="0"/>
                <a:ea typeface="Arial" pitchFamily="34" charset="-122"/>
                <a:cs typeface="Arial" pitchFamily="34" charset="-120"/>
              </a:rPr>
              <a:t>WE SAY</a:t>
            </a:r>
            <a:endParaRPr lang="en-US" sz="1200" dirty="0"/>
          </a:p>
        </p:txBody>
      </p:sp>
      <p:sp>
        <p:nvSpPr>
          <p:cNvPr id="6" name="Text 4"/>
          <p:cNvSpPr/>
          <p:nvPr/>
        </p:nvSpPr>
        <p:spPr>
          <a:xfrm>
            <a:off x="4709160" y="1115568"/>
            <a:ext cx="3886200" cy="292608"/>
          </a:xfrm>
          <a:prstGeom prst="rect">
            <a:avLst/>
          </a:prstGeom>
          <a:noFill/>
          <a:ln/>
        </p:spPr>
        <p:txBody>
          <a:bodyPr wrap="square" rtlCol="0" anchor="ctr"/>
          <a:lstStyle/>
          <a:p>
            <a:pPr indent="0" marL="0">
              <a:buNone/>
            </a:pPr>
            <a:r>
              <a:rPr lang="en-US" sz="1200" b="1" spc="300" kern="0" dirty="0">
                <a:solidFill>
                  <a:srgbClr val="C0392B"/>
                </a:solidFill>
                <a:latin typeface="Arial" pitchFamily="34" charset="0"/>
                <a:ea typeface="Arial" pitchFamily="34" charset="-122"/>
                <a:cs typeface="Arial" pitchFamily="34" charset="-120"/>
              </a:rPr>
              <a:t>WE NEVER SAY</a:t>
            </a:r>
            <a:endParaRPr lang="en-US" sz="1200" dirty="0"/>
          </a:p>
        </p:txBody>
      </p:sp>
      <p:sp>
        <p:nvSpPr>
          <p:cNvPr id="7" name="Shape 5"/>
          <p:cNvSpPr/>
          <p:nvPr/>
        </p:nvSpPr>
        <p:spPr>
          <a:xfrm>
            <a:off x="548640" y="1481328"/>
            <a:ext cx="3886200" cy="603504"/>
          </a:xfrm>
          <a:prstGeom prst="roundRect">
            <a:avLst>
              <a:gd name="adj" fmla="val 9091"/>
            </a:avLst>
          </a:prstGeom>
          <a:solidFill>
            <a:srgbClr val="EAF6F0"/>
          </a:solidFill>
          <a:ln/>
        </p:spPr>
      </p:sp>
      <p:sp>
        <p:nvSpPr>
          <p:cNvPr id="8" name="Text 6"/>
          <p:cNvSpPr/>
          <p:nvPr/>
        </p:nvSpPr>
        <p:spPr>
          <a:xfrm>
            <a:off x="713232" y="1481328"/>
            <a:ext cx="3611880" cy="603504"/>
          </a:xfrm>
          <a:prstGeom prst="rect">
            <a:avLst/>
          </a:prstGeom>
          <a:noFill/>
          <a:ln/>
        </p:spPr>
        <p:txBody>
          <a:bodyPr wrap="square" rtlCol="0" anchor="ctr"/>
          <a:lstStyle/>
          <a:p>
            <a:pPr indent="0" marL="0">
              <a:lnSpc>
                <a:spcPts val="1300"/>
              </a:lnSpc>
              <a:buNone/>
            </a:pPr>
            <a:r>
              <a:rPr lang="en-US" sz="1050" dirty="0">
                <a:solidFill>
                  <a:srgbClr val="11203A"/>
                </a:solidFill>
                <a:latin typeface="Arial" pitchFamily="34" charset="0"/>
                <a:ea typeface="Arial" pitchFamily="34" charset="-122"/>
                <a:cs typeface="Arial" pitchFamily="34" charset="-120"/>
              </a:rPr>
              <a:t>“Here’s exactly what this quote covers, and what it doesn’t.”</a:t>
            </a:r>
            <a:endParaRPr lang="en-US" sz="1050" dirty="0"/>
          </a:p>
        </p:txBody>
      </p:sp>
      <p:sp>
        <p:nvSpPr>
          <p:cNvPr id="9" name="Shape 7"/>
          <p:cNvSpPr/>
          <p:nvPr/>
        </p:nvSpPr>
        <p:spPr>
          <a:xfrm>
            <a:off x="4709160" y="1481328"/>
            <a:ext cx="3886200" cy="603504"/>
          </a:xfrm>
          <a:prstGeom prst="roundRect">
            <a:avLst>
              <a:gd name="adj" fmla="val 9091"/>
            </a:avLst>
          </a:prstGeom>
          <a:solidFill>
            <a:srgbClr val="FBEDEB"/>
          </a:solidFill>
          <a:ln/>
        </p:spPr>
      </p:sp>
      <p:sp>
        <p:nvSpPr>
          <p:cNvPr id="10" name="Text 8"/>
          <p:cNvSpPr/>
          <p:nvPr/>
        </p:nvSpPr>
        <p:spPr>
          <a:xfrm>
            <a:off x="4873752" y="1481328"/>
            <a:ext cx="3611880" cy="603504"/>
          </a:xfrm>
          <a:prstGeom prst="rect">
            <a:avLst/>
          </a:prstGeom>
          <a:noFill/>
          <a:ln/>
        </p:spPr>
        <p:txBody>
          <a:bodyPr wrap="square" rtlCol="0" anchor="ctr"/>
          <a:lstStyle/>
          <a:p>
            <a:pPr indent="0" marL="0">
              <a:lnSpc>
                <a:spcPts val="1300"/>
              </a:lnSpc>
              <a:buNone/>
            </a:pPr>
            <a:r>
              <a:rPr lang="en-US" sz="1050" dirty="0">
                <a:solidFill>
                  <a:srgbClr val="11203A"/>
                </a:solidFill>
                <a:latin typeface="Arial" pitchFamily="34" charset="0"/>
                <a:ea typeface="Arial" pitchFamily="34" charset="-122"/>
                <a:cs typeface="Arial" pitchFamily="34" charset="-120"/>
              </a:rPr>
              <a:t>“Best rates guaranteed!!”</a:t>
            </a:r>
            <a:endParaRPr lang="en-US" sz="1050" dirty="0"/>
          </a:p>
        </p:txBody>
      </p:sp>
      <p:sp>
        <p:nvSpPr>
          <p:cNvPr id="11" name="Shape 9"/>
          <p:cNvSpPr/>
          <p:nvPr/>
        </p:nvSpPr>
        <p:spPr>
          <a:xfrm>
            <a:off x="548640" y="2176272"/>
            <a:ext cx="3886200" cy="603504"/>
          </a:xfrm>
          <a:prstGeom prst="roundRect">
            <a:avLst>
              <a:gd name="adj" fmla="val 9091"/>
            </a:avLst>
          </a:prstGeom>
          <a:solidFill>
            <a:srgbClr val="EAF6F0"/>
          </a:solidFill>
          <a:ln/>
        </p:spPr>
      </p:sp>
      <p:sp>
        <p:nvSpPr>
          <p:cNvPr id="12" name="Text 10"/>
          <p:cNvSpPr/>
          <p:nvPr/>
        </p:nvSpPr>
        <p:spPr>
          <a:xfrm>
            <a:off x="713232" y="2176272"/>
            <a:ext cx="3611880" cy="603504"/>
          </a:xfrm>
          <a:prstGeom prst="rect">
            <a:avLst/>
          </a:prstGeom>
          <a:noFill/>
          <a:ln/>
        </p:spPr>
        <p:txBody>
          <a:bodyPr wrap="square" rtlCol="0" anchor="ctr"/>
          <a:lstStyle/>
          <a:p>
            <a:pPr indent="0" marL="0">
              <a:lnSpc>
                <a:spcPts val="1300"/>
              </a:lnSpc>
              <a:buNone/>
            </a:pPr>
            <a:r>
              <a:rPr lang="en-US" sz="1050" dirty="0">
                <a:solidFill>
                  <a:srgbClr val="11203A"/>
                </a:solidFill>
                <a:latin typeface="Arial" pitchFamily="34" charset="0"/>
                <a:ea typeface="Arial" pitchFamily="34" charset="-122"/>
                <a:cs typeface="Arial" pitchFamily="34" charset="-120"/>
              </a:rPr>
              <a:t>“That routing will bite you at customs. Here’s the better way.”</a:t>
            </a:r>
            <a:endParaRPr lang="en-US" sz="1050" dirty="0"/>
          </a:p>
        </p:txBody>
      </p:sp>
      <p:sp>
        <p:nvSpPr>
          <p:cNvPr id="13" name="Shape 11"/>
          <p:cNvSpPr/>
          <p:nvPr/>
        </p:nvSpPr>
        <p:spPr>
          <a:xfrm>
            <a:off x="4709160" y="2176272"/>
            <a:ext cx="3886200" cy="603504"/>
          </a:xfrm>
          <a:prstGeom prst="roundRect">
            <a:avLst>
              <a:gd name="adj" fmla="val 9091"/>
            </a:avLst>
          </a:prstGeom>
          <a:solidFill>
            <a:srgbClr val="FBEDEB"/>
          </a:solidFill>
          <a:ln/>
        </p:spPr>
      </p:sp>
      <p:sp>
        <p:nvSpPr>
          <p:cNvPr id="14" name="Text 12"/>
          <p:cNvSpPr/>
          <p:nvPr/>
        </p:nvSpPr>
        <p:spPr>
          <a:xfrm>
            <a:off x="4873752" y="2176272"/>
            <a:ext cx="3611880" cy="603504"/>
          </a:xfrm>
          <a:prstGeom prst="rect">
            <a:avLst/>
          </a:prstGeom>
          <a:noFill/>
          <a:ln/>
        </p:spPr>
        <p:txBody>
          <a:bodyPr wrap="square" rtlCol="0" anchor="ctr"/>
          <a:lstStyle/>
          <a:p>
            <a:pPr indent="0" marL="0">
              <a:lnSpc>
                <a:spcPts val="1300"/>
              </a:lnSpc>
              <a:buNone/>
            </a:pPr>
            <a:r>
              <a:rPr lang="en-US" sz="1050" dirty="0">
                <a:solidFill>
                  <a:srgbClr val="11203A"/>
                </a:solidFill>
                <a:latin typeface="Arial" pitchFamily="34" charset="0"/>
                <a:ea typeface="Arial" pitchFamily="34" charset="-122"/>
                <a:cs typeface="Arial" pitchFamily="34" charset="-120"/>
              </a:rPr>
              <a:t>“We are pleased to inform you of our wide range of solutions.”</a:t>
            </a:r>
            <a:endParaRPr lang="en-US" sz="1050" dirty="0"/>
          </a:p>
        </p:txBody>
      </p:sp>
      <p:sp>
        <p:nvSpPr>
          <p:cNvPr id="15" name="Shape 13"/>
          <p:cNvSpPr/>
          <p:nvPr/>
        </p:nvSpPr>
        <p:spPr>
          <a:xfrm>
            <a:off x="548640" y="2871216"/>
            <a:ext cx="3886200" cy="603504"/>
          </a:xfrm>
          <a:prstGeom prst="roundRect">
            <a:avLst>
              <a:gd name="adj" fmla="val 9091"/>
            </a:avLst>
          </a:prstGeom>
          <a:solidFill>
            <a:srgbClr val="EAF6F0"/>
          </a:solidFill>
          <a:ln/>
        </p:spPr>
      </p:sp>
      <p:sp>
        <p:nvSpPr>
          <p:cNvPr id="16" name="Text 14"/>
          <p:cNvSpPr/>
          <p:nvPr/>
        </p:nvSpPr>
        <p:spPr>
          <a:xfrm>
            <a:off x="713232" y="2871216"/>
            <a:ext cx="3611880" cy="603504"/>
          </a:xfrm>
          <a:prstGeom prst="rect">
            <a:avLst/>
          </a:prstGeom>
          <a:noFill/>
          <a:ln/>
        </p:spPr>
        <p:txBody>
          <a:bodyPr wrap="square" rtlCol="0" anchor="ctr"/>
          <a:lstStyle/>
          <a:p>
            <a:pPr indent="0" marL="0">
              <a:lnSpc>
                <a:spcPts val="1300"/>
              </a:lnSpc>
              <a:buNone/>
            </a:pPr>
            <a:r>
              <a:rPr lang="en-US" sz="1050" dirty="0">
                <a:solidFill>
                  <a:srgbClr val="11203A"/>
                </a:solidFill>
                <a:latin typeface="Arial" pitchFamily="34" charset="0"/>
                <a:ea typeface="Arial" pitchFamily="34" charset="-122"/>
                <a:cs typeface="Arial" pitchFamily="34" charset="-120"/>
              </a:rPr>
              <a:t>“Your AM is Sarah. She owns this shipment end to end.”</a:t>
            </a:r>
            <a:endParaRPr lang="en-US" sz="1050" dirty="0"/>
          </a:p>
        </p:txBody>
      </p:sp>
      <p:sp>
        <p:nvSpPr>
          <p:cNvPr id="17" name="Shape 15"/>
          <p:cNvSpPr/>
          <p:nvPr/>
        </p:nvSpPr>
        <p:spPr>
          <a:xfrm>
            <a:off x="4709160" y="2871216"/>
            <a:ext cx="3886200" cy="603504"/>
          </a:xfrm>
          <a:prstGeom prst="roundRect">
            <a:avLst>
              <a:gd name="adj" fmla="val 9091"/>
            </a:avLst>
          </a:prstGeom>
          <a:solidFill>
            <a:srgbClr val="FBEDEB"/>
          </a:solidFill>
          <a:ln/>
        </p:spPr>
      </p:sp>
      <p:sp>
        <p:nvSpPr>
          <p:cNvPr id="18" name="Text 16"/>
          <p:cNvSpPr/>
          <p:nvPr/>
        </p:nvSpPr>
        <p:spPr>
          <a:xfrm>
            <a:off x="4873752" y="2871216"/>
            <a:ext cx="3611880" cy="603504"/>
          </a:xfrm>
          <a:prstGeom prst="rect">
            <a:avLst/>
          </a:prstGeom>
          <a:noFill/>
          <a:ln/>
        </p:spPr>
        <p:txBody>
          <a:bodyPr wrap="square" rtlCol="0" anchor="ctr"/>
          <a:lstStyle/>
          <a:p>
            <a:pPr indent="0" marL="0">
              <a:lnSpc>
                <a:spcPts val="1300"/>
              </a:lnSpc>
              <a:buNone/>
            </a:pPr>
            <a:r>
              <a:rPr lang="en-US" sz="1050" dirty="0">
                <a:solidFill>
                  <a:srgbClr val="11203A"/>
                </a:solidFill>
                <a:latin typeface="Arial" pitchFamily="34" charset="0"/>
                <a:ea typeface="Arial" pitchFamily="34" charset="-122"/>
                <a:cs typeface="Arial" pitchFamily="34" charset="-120"/>
              </a:rPr>
              <a:t>“Your request has been forwarded to the relevant department.”</a:t>
            </a:r>
            <a:endParaRPr lang="en-US" sz="1050" dirty="0"/>
          </a:p>
        </p:txBody>
      </p:sp>
      <p:sp>
        <p:nvSpPr>
          <p:cNvPr id="19" name="Shape 17"/>
          <p:cNvSpPr/>
          <p:nvPr/>
        </p:nvSpPr>
        <p:spPr>
          <a:xfrm>
            <a:off x="548640" y="3566160"/>
            <a:ext cx="3886200" cy="603504"/>
          </a:xfrm>
          <a:prstGeom prst="roundRect">
            <a:avLst>
              <a:gd name="adj" fmla="val 9091"/>
            </a:avLst>
          </a:prstGeom>
          <a:solidFill>
            <a:srgbClr val="EAF6F0"/>
          </a:solidFill>
          <a:ln/>
        </p:spPr>
      </p:sp>
      <p:sp>
        <p:nvSpPr>
          <p:cNvPr id="20" name="Text 18"/>
          <p:cNvSpPr/>
          <p:nvPr/>
        </p:nvSpPr>
        <p:spPr>
          <a:xfrm>
            <a:off x="713232" y="3566160"/>
            <a:ext cx="3611880" cy="603504"/>
          </a:xfrm>
          <a:prstGeom prst="rect">
            <a:avLst/>
          </a:prstGeom>
          <a:noFill/>
          <a:ln/>
        </p:spPr>
        <p:txBody>
          <a:bodyPr wrap="square" rtlCol="0" anchor="ctr"/>
          <a:lstStyle/>
          <a:p>
            <a:pPr indent="0" marL="0">
              <a:lnSpc>
                <a:spcPts val="1300"/>
              </a:lnSpc>
              <a:buNone/>
            </a:pPr>
            <a:r>
              <a:rPr lang="en-US" sz="1050" dirty="0">
                <a:solidFill>
                  <a:srgbClr val="11203A"/>
                </a:solidFill>
                <a:latin typeface="Arial" pitchFamily="34" charset="0"/>
                <a:ea typeface="Arial" pitchFamily="34" charset="-122"/>
                <a:cs typeface="Arial" pitchFamily="34" charset="-120"/>
              </a:rPr>
              <a:t>“You’ll have the quote within the business day. If we’re hunting a cheaper rate, we’ll tell you.”</a:t>
            </a:r>
            <a:endParaRPr lang="en-US" sz="1050" dirty="0"/>
          </a:p>
        </p:txBody>
      </p:sp>
      <p:sp>
        <p:nvSpPr>
          <p:cNvPr id="21" name="Shape 19"/>
          <p:cNvSpPr/>
          <p:nvPr/>
        </p:nvSpPr>
        <p:spPr>
          <a:xfrm>
            <a:off x="4709160" y="3566160"/>
            <a:ext cx="3886200" cy="603504"/>
          </a:xfrm>
          <a:prstGeom prst="roundRect">
            <a:avLst>
              <a:gd name="adj" fmla="val 9091"/>
            </a:avLst>
          </a:prstGeom>
          <a:solidFill>
            <a:srgbClr val="FBEDEB"/>
          </a:solidFill>
          <a:ln/>
        </p:spPr>
      </p:sp>
      <p:sp>
        <p:nvSpPr>
          <p:cNvPr id="22" name="Text 20"/>
          <p:cNvSpPr/>
          <p:nvPr/>
        </p:nvSpPr>
        <p:spPr>
          <a:xfrm>
            <a:off x="4873752" y="3566160"/>
            <a:ext cx="3611880" cy="603504"/>
          </a:xfrm>
          <a:prstGeom prst="rect">
            <a:avLst/>
          </a:prstGeom>
          <a:noFill/>
          <a:ln/>
        </p:spPr>
        <p:txBody>
          <a:bodyPr wrap="square" rtlCol="0" anchor="ctr"/>
          <a:lstStyle/>
          <a:p>
            <a:pPr indent="0" marL="0">
              <a:lnSpc>
                <a:spcPts val="1300"/>
              </a:lnSpc>
              <a:buNone/>
            </a:pPr>
            <a:r>
              <a:rPr lang="en-US" sz="1050" dirty="0">
                <a:solidFill>
                  <a:srgbClr val="11203A"/>
                </a:solidFill>
                <a:latin typeface="Arial" pitchFamily="34" charset="0"/>
                <a:ea typeface="Arial" pitchFamily="34" charset="-122"/>
                <a:cs typeface="Arial" pitchFamily="34" charset="-120"/>
              </a:rPr>
              <a:t>“Cheapest and fastest in Singapore!”</a:t>
            </a:r>
            <a:endParaRPr lang="en-US" sz="1050" dirty="0"/>
          </a:p>
        </p:txBody>
      </p:sp>
      <p:sp>
        <p:nvSpPr>
          <p:cNvPr id="23" name="Shape 21"/>
          <p:cNvSpPr/>
          <p:nvPr/>
        </p:nvSpPr>
        <p:spPr>
          <a:xfrm>
            <a:off x="548640" y="4261104"/>
            <a:ext cx="3886200" cy="603504"/>
          </a:xfrm>
          <a:prstGeom prst="roundRect">
            <a:avLst>
              <a:gd name="adj" fmla="val 9091"/>
            </a:avLst>
          </a:prstGeom>
          <a:solidFill>
            <a:srgbClr val="EAF6F0"/>
          </a:solidFill>
          <a:ln/>
        </p:spPr>
      </p:sp>
      <p:sp>
        <p:nvSpPr>
          <p:cNvPr id="24" name="Text 22"/>
          <p:cNvSpPr/>
          <p:nvPr/>
        </p:nvSpPr>
        <p:spPr>
          <a:xfrm>
            <a:off x="713232" y="4261104"/>
            <a:ext cx="3611880" cy="603504"/>
          </a:xfrm>
          <a:prstGeom prst="rect">
            <a:avLst/>
          </a:prstGeom>
          <a:noFill/>
          <a:ln/>
        </p:spPr>
        <p:txBody>
          <a:bodyPr wrap="square" rtlCol="0" anchor="ctr"/>
          <a:lstStyle/>
          <a:p>
            <a:pPr indent="0" marL="0">
              <a:lnSpc>
                <a:spcPts val="1300"/>
              </a:lnSpc>
              <a:buNone/>
            </a:pPr>
            <a:r>
              <a:rPr lang="en-US" sz="1050" dirty="0">
                <a:solidFill>
                  <a:srgbClr val="11203A"/>
                </a:solidFill>
                <a:latin typeface="Arial" pitchFamily="34" charset="0"/>
                <a:ea typeface="Arial" pitchFamily="34" charset="-122"/>
                <a:cs typeface="Arial" pitchFamily="34" charset="-120"/>
              </a:rPr>
              <a:t>“Delay at Tanjung Priok, two days. Here’s what we’re doing.”</a:t>
            </a:r>
            <a:endParaRPr lang="en-US" sz="1050" dirty="0"/>
          </a:p>
        </p:txBody>
      </p:sp>
      <p:sp>
        <p:nvSpPr>
          <p:cNvPr id="25" name="Shape 23"/>
          <p:cNvSpPr/>
          <p:nvPr/>
        </p:nvSpPr>
        <p:spPr>
          <a:xfrm>
            <a:off x="4709160" y="4261104"/>
            <a:ext cx="3886200" cy="603504"/>
          </a:xfrm>
          <a:prstGeom prst="roundRect">
            <a:avLst>
              <a:gd name="adj" fmla="val 9091"/>
            </a:avLst>
          </a:prstGeom>
          <a:solidFill>
            <a:srgbClr val="FBEDEB"/>
          </a:solidFill>
          <a:ln/>
        </p:spPr>
      </p:sp>
      <p:sp>
        <p:nvSpPr>
          <p:cNvPr id="26" name="Text 24"/>
          <p:cNvSpPr/>
          <p:nvPr/>
        </p:nvSpPr>
        <p:spPr>
          <a:xfrm>
            <a:off x="4873752" y="4261104"/>
            <a:ext cx="3611880" cy="603504"/>
          </a:xfrm>
          <a:prstGeom prst="rect">
            <a:avLst/>
          </a:prstGeom>
          <a:noFill/>
          <a:ln/>
        </p:spPr>
        <p:txBody>
          <a:bodyPr wrap="square" rtlCol="0" anchor="ctr"/>
          <a:lstStyle/>
          <a:p>
            <a:pPr indent="0" marL="0">
              <a:lnSpc>
                <a:spcPts val="1300"/>
              </a:lnSpc>
              <a:buNone/>
            </a:pPr>
            <a:r>
              <a:rPr lang="en-US" sz="1050" dirty="0">
                <a:solidFill>
                  <a:srgbClr val="11203A"/>
                </a:solidFill>
                <a:latin typeface="Arial" pitchFamily="34" charset="0"/>
                <a:ea typeface="Arial" pitchFamily="34" charset="-122"/>
                <a:cs typeface="Arial" pitchFamily="34" charset="-120"/>
              </a:rPr>
              <a:t>(silence until the client asks)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37744"/>
            <a:ext cx="5486400" cy="256032"/>
          </a:xfrm>
          <a:prstGeom prst="rect">
            <a:avLst/>
          </a:prstGeom>
          <a:noFill/>
          <a:ln/>
        </p:spPr>
        <p:txBody>
          <a:bodyPr wrap="square" rtlCol="0" anchor="ctr"/>
          <a:lstStyle/>
          <a:p>
            <a:pPr indent="0" marL="0">
              <a:buNone/>
            </a:pPr>
            <a:r>
              <a:rPr lang="en-US" sz="1000" b="1" spc="400" kern="0" dirty="0">
                <a:solidFill>
                  <a:srgbClr val="5A6B80"/>
                </a:solidFill>
                <a:latin typeface="Arial" pitchFamily="34" charset="0"/>
                <a:ea typeface="Arial" pitchFamily="34" charset="-122"/>
                <a:cs typeface="Arial" pitchFamily="34" charset="-120"/>
              </a:rPr>
              <a:t>08  ·  LOGO</a:t>
            </a:r>
            <a:endParaRPr lang="en-US" sz="1000" dirty="0"/>
          </a:p>
        </p:txBody>
      </p:sp>
      <p:sp>
        <p:nvSpPr>
          <p:cNvPr id="3" name="Text 1"/>
          <p:cNvSpPr/>
          <p:nvPr/>
        </p:nvSpPr>
        <p:spPr>
          <a:xfrm>
            <a:off x="8046720" y="237744"/>
            <a:ext cx="548640" cy="256032"/>
          </a:xfrm>
          <a:prstGeom prst="rect">
            <a:avLst/>
          </a:prstGeom>
          <a:noFill/>
          <a:ln/>
        </p:spPr>
        <p:txBody>
          <a:bodyPr wrap="square" rtlCol="0" anchor="ctr"/>
          <a:lstStyle/>
          <a:p>
            <a:pPr algn="r" indent="0" marL="0">
              <a:buNone/>
            </a:pPr>
            <a:r>
              <a:rPr lang="en-US" sz="1000" spc="200" kern="0" dirty="0">
                <a:solidFill>
                  <a:srgbClr val="5A6B80"/>
                </a:solidFill>
                <a:latin typeface="Arial" pitchFamily="34" charset="0"/>
                <a:ea typeface="Arial" pitchFamily="34" charset="-122"/>
                <a:cs typeface="Arial" pitchFamily="34" charset="-120"/>
              </a:rPr>
              <a:t>09</a:t>
            </a:r>
            <a:endParaRPr lang="en-US" sz="1000" dirty="0"/>
          </a:p>
        </p:txBody>
      </p:sp>
      <p:sp>
        <p:nvSpPr>
          <p:cNvPr id="4" name="Text 2"/>
          <p:cNvSpPr/>
          <p:nvPr/>
        </p:nvSpPr>
        <p:spPr>
          <a:xfrm>
            <a:off x="548640" y="512064"/>
            <a:ext cx="8046720" cy="475488"/>
          </a:xfrm>
          <a:prstGeom prst="rect">
            <a:avLst/>
          </a:prstGeom>
          <a:noFill/>
          <a:ln/>
        </p:spPr>
        <p:txBody>
          <a:bodyPr wrap="square" rtlCol="0" anchor="ctr"/>
          <a:lstStyle/>
          <a:p>
            <a:pPr indent="0" marL="0">
              <a:buNone/>
            </a:pPr>
            <a:r>
              <a:rPr lang="en-US" sz="2700" b="1" dirty="0">
                <a:solidFill>
                  <a:srgbClr val="003087"/>
                </a:solidFill>
                <a:latin typeface="Arial" pitchFamily="34" charset="0"/>
                <a:ea typeface="Arial" pitchFamily="34" charset="-122"/>
                <a:cs typeface="Arial" pitchFamily="34" charset="-120"/>
              </a:rPr>
              <a:t>Our logo: four versions, two rules</a:t>
            </a:r>
            <a:endParaRPr lang="en-US" sz="2700" dirty="0"/>
          </a:p>
        </p:txBody>
      </p:sp>
      <p:pic>
        <p:nvPicPr>
          <p:cNvPr id="5" name="Image 0" descr="assets/use_navy_on_white.png">    </p:cNvPr>
          <p:cNvPicPr>
            <a:picLocks noChangeAspect="1"/>
          </p:cNvPicPr>
          <p:nvPr/>
        </p:nvPicPr>
        <p:blipFill>
          <a:blip r:embed="rId1"/>
          <a:stretch>
            <a:fillRect/>
          </a:stretch>
        </p:blipFill>
        <p:spPr>
          <a:xfrm>
            <a:off x="548640" y="1234440"/>
            <a:ext cx="2103120" cy="1170432"/>
          </a:xfrm>
          <a:prstGeom prst="rect">
            <a:avLst/>
          </a:prstGeom>
        </p:spPr>
      </p:pic>
      <p:sp>
        <p:nvSpPr>
          <p:cNvPr id="6" name="Text 3"/>
          <p:cNvSpPr/>
          <p:nvPr/>
        </p:nvSpPr>
        <p:spPr>
          <a:xfrm>
            <a:off x="548640" y="2423160"/>
            <a:ext cx="2103120" cy="274320"/>
          </a:xfrm>
          <a:prstGeom prst="rect">
            <a:avLst/>
          </a:prstGeom>
          <a:noFill/>
          <a:ln/>
        </p:spPr>
        <p:txBody>
          <a:bodyPr wrap="square" rtlCol="0" anchor="ctr"/>
          <a:lstStyle/>
          <a:p>
            <a:pPr algn="ctr" indent="0" marL="0">
              <a:buNone/>
            </a:pPr>
            <a:r>
              <a:rPr lang="en-US" sz="1000" dirty="0">
                <a:solidFill>
                  <a:srgbClr val="5A6B80"/>
                </a:solidFill>
                <a:latin typeface="Arial" pitchFamily="34" charset="0"/>
                <a:ea typeface="Arial" pitchFamily="34" charset="-122"/>
                <a:cs typeface="Arial" pitchFamily="34" charset="-120"/>
              </a:rPr>
              <a:t>Primary, navy on white</a:t>
            </a:r>
            <a:endParaRPr lang="en-US" sz="1000" dirty="0"/>
          </a:p>
        </p:txBody>
      </p:sp>
      <p:pic>
        <p:nvPicPr>
          <p:cNvPr id="7" name="Image 1" descr="assets/use_white_on_navy.png">    </p:cNvPr>
          <p:cNvPicPr>
            <a:picLocks noChangeAspect="1"/>
          </p:cNvPicPr>
          <p:nvPr/>
        </p:nvPicPr>
        <p:blipFill>
          <a:blip r:embed="rId2"/>
          <a:stretch>
            <a:fillRect/>
          </a:stretch>
        </p:blipFill>
        <p:spPr>
          <a:xfrm>
            <a:off x="2788920" y="1234440"/>
            <a:ext cx="2103120" cy="1170432"/>
          </a:xfrm>
          <a:prstGeom prst="rect">
            <a:avLst/>
          </a:prstGeom>
        </p:spPr>
      </p:pic>
      <p:sp>
        <p:nvSpPr>
          <p:cNvPr id="8" name="Text 4"/>
          <p:cNvSpPr/>
          <p:nvPr/>
        </p:nvSpPr>
        <p:spPr>
          <a:xfrm>
            <a:off x="2788920" y="2423160"/>
            <a:ext cx="2103120" cy="274320"/>
          </a:xfrm>
          <a:prstGeom prst="rect">
            <a:avLst/>
          </a:prstGeom>
          <a:noFill/>
          <a:ln/>
        </p:spPr>
        <p:txBody>
          <a:bodyPr wrap="square" rtlCol="0" anchor="ctr"/>
          <a:lstStyle/>
          <a:p>
            <a:pPr algn="ctr" indent="0" marL="0">
              <a:buNone/>
            </a:pPr>
            <a:r>
              <a:rPr lang="en-US" sz="1000" dirty="0">
                <a:solidFill>
                  <a:srgbClr val="5A6B80"/>
                </a:solidFill>
                <a:latin typeface="Arial" pitchFamily="34" charset="0"/>
                <a:ea typeface="Arial" pitchFamily="34" charset="-122"/>
                <a:cs typeface="Arial" pitchFamily="34" charset="-120"/>
              </a:rPr>
              <a:t>Reverse, white on navy</a:t>
            </a:r>
            <a:endParaRPr lang="en-US" sz="1000" dirty="0"/>
          </a:p>
        </p:txBody>
      </p:sp>
      <p:pic>
        <p:nvPicPr>
          <p:cNvPr id="9" name="Image 2" descr="assets/use_icon_navy.png">    </p:cNvPr>
          <p:cNvPicPr>
            <a:picLocks noChangeAspect="1"/>
          </p:cNvPicPr>
          <p:nvPr/>
        </p:nvPicPr>
        <p:blipFill>
          <a:blip r:embed="rId3"/>
          <a:stretch>
            <a:fillRect/>
          </a:stretch>
        </p:blipFill>
        <p:spPr>
          <a:xfrm>
            <a:off x="548640" y="2898648"/>
            <a:ext cx="2103120" cy="1170432"/>
          </a:xfrm>
          <a:prstGeom prst="rect">
            <a:avLst/>
          </a:prstGeom>
        </p:spPr>
      </p:pic>
      <p:sp>
        <p:nvSpPr>
          <p:cNvPr id="10" name="Text 5"/>
          <p:cNvSpPr/>
          <p:nvPr/>
        </p:nvSpPr>
        <p:spPr>
          <a:xfrm>
            <a:off x="548640" y="4087368"/>
            <a:ext cx="2103120" cy="274320"/>
          </a:xfrm>
          <a:prstGeom prst="rect">
            <a:avLst/>
          </a:prstGeom>
          <a:noFill/>
          <a:ln/>
        </p:spPr>
        <p:txBody>
          <a:bodyPr wrap="square" rtlCol="0" anchor="ctr"/>
          <a:lstStyle/>
          <a:p>
            <a:pPr algn="ctr" indent="0" marL="0">
              <a:buNone/>
            </a:pPr>
            <a:r>
              <a:rPr lang="en-US" sz="1000" dirty="0">
                <a:solidFill>
                  <a:srgbClr val="5A6B80"/>
                </a:solidFill>
                <a:latin typeface="Arial" pitchFamily="34" charset="0"/>
                <a:ea typeface="Arial" pitchFamily="34" charset="-122"/>
                <a:cs typeface="Arial" pitchFamily="34" charset="-120"/>
              </a:rPr>
              <a:t>Icon, small spaces</a:t>
            </a:r>
            <a:endParaRPr lang="en-US" sz="1000" dirty="0"/>
          </a:p>
        </p:txBody>
      </p:sp>
      <p:pic>
        <p:nvPicPr>
          <p:cNvPr id="11" name="Image 3" descr="assets/use_icon_white.png">    </p:cNvPr>
          <p:cNvPicPr>
            <a:picLocks noChangeAspect="1"/>
          </p:cNvPicPr>
          <p:nvPr/>
        </p:nvPicPr>
        <p:blipFill>
          <a:blip r:embed="rId4"/>
          <a:stretch>
            <a:fillRect/>
          </a:stretch>
        </p:blipFill>
        <p:spPr>
          <a:xfrm>
            <a:off x="2788920" y="2898648"/>
            <a:ext cx="2103120" cy="1170432"/>
          </a:xfrm>
          <a:prstGeom prst="rect">
            <a:avLst/>
          </a:prstGeom>
        </p:spPr>
      </p:pic>
      <p:sp>
        <p:nvSpPr>
          <p:cNvPr id="12" name="Text 6"/>
          <p:cNvSpPr/>
          <p:nvPr/>
        </p:nvSpPr>
        <p:spPr>
          <a:xfrm>
            <a:off x="2788920" y="4087368"/>
            <a:ext cx="2103120" cy="274320"/>
          </a:xfrm>
          <a:prstGeom prst="rect">
            <a:avLst/>
          </a:prstGeom>
          <a:noFill/>
          <a:ln/>
        </p:spPr>
        <p:txBody>
          <a:bodyPr wrap="square" rtlCol="0" anchor="ctr"/>
          <a:lstStyle/>
          <a:p>
            <a:pPr algn="ctr" indent="0" marL="0">
              <a:buNone/>
            </a:pPr>
            <a:r>
              <a:rPr lang="en-US" sz="1000" dirty="0">
                <a:solidFill>
                  <a:srgbClr val="5A6B80"/>
                </a:solidFill>
                <a:latin typeface="Arial" pitchFamily="34" charset="0"/>
                <a:ea typeface="Arial" pitchFamily="34" charset="-122"/>
                <a:cs typeface="Arial" pitchFamily="34" charset="-120"/>
              </a:rPr>
              <a:t>Icon reverse, avatars</a:t>
            </a:r>
            <a:endParaRPr lang="en-US" sz="1000" dirty="0"/>
          </a:p>
        </p:txBody>
      </p:sp>
      <p:sp>
        <p:nvSpPr>
          <p:cNvPr id="13" name="Shape 7"/>
          <p:cNvSpPr/>
          <p:nvPr/>
        </p:nvSpPr>
        <p:spPr>
          <a:xfrm>
            <a:off x="5303520" y="1234440"/>
            <a:ext cx="3291840" cy="3127248"/>
          </a:xfrm>
          <a:prstGeom prst="roundRect">
            <a:avLst>
              <a:gd name="adj" fmla="val 2339"/>
            </a:avLst>
          </a:prstGeom>
          <a:solidFill>
            <a:srgbClr val="FFFFFF"/>
          </a:solidFill>
          <a:ln w="12700">
            <a:solidFill>
              <a:srgbClr val="D9E1EA"/>
            </a:solidFill>
            <a:prstDash val="solid"/>
          </a:ln>
        </p:spPr>
      </p:sp>
      <p:sp>
        <p:nvSpPr>
          <p:cNvPr id="14" name="Text 8"/>
          <p:cNvSpPr/>
          <p:nvPr/>
        </p:nvSpPr>
        <p:spPr>
          <a:xfrm>
            <a:off x="5577840" y="1508760"/>
            <a:ext cx="2743200" cy="2651760"/>
          </a:xfrm>
          <a:prstGeom prst="rect">
            <a:avLst/>
          </a:prstGeom>
          <a:noFill/>
          <a:ln/>
        </p:spPr>
        <p:txBody>
          <a:bodyPr wrap="square" rtlCol="0" anchor="ctr"/>
          <a:lstStyle/>
          <a:p>
            <a:pPr indent="0" marL="0">
              <a:lnSpc>
                <a:spcPts val="1600"/>
              </a:lnSpc>
              <a:spcAft>
                <a:spcPts val="400"/>
              </a:spcAft>
              <a:buNone/>
            </a:pPr>
            <a:r>
              <a:rPr lang="en-US" sz="1200" b="1" dirty="0">
                <a:solidFill>
                  <a:srgbClr val="003087"/>
                </a:solidFill>
                <a:latin typeface="Arial" pitchFamily="34" charset="0"/>
                <a:ea typeface="Arial" pitchFamily="34" charset="-122"/>
                <a:cs typeface="Arial" pitchFamily="34" charset="-120"/>
              </a:rPr>
              <a:t>Rule 1: Color</a:t>
            </a:r>
            <a:endParaRPr lang="en-US" sz="1200" dirty="0"/>
          </a:p>
          <a:p>
            <a:pPr indent="0" marL="0">
              <a:lnSpc>
                <a:spcPts val="1600"/>
              </a:lnSpc>
              <a:spcAft>
                <a:spcPts val="1200"/>
              </a:spcAft>
              <a:buNone/>
            </a:pPr>
            <a:r>
              <a:rPr lang="en-US" sz="1200" dirty="0">
                <a:solidFill>
                  <a:srgbClr val="11203A"/>
                </a:solidFill>
                <a:latin typeface="Arial" pitchFamily="34" charset="0"/>
                <a:ea typeface="Arial" pitchFamily="34" charset="-122"/>
                <a:cs typeface="Arial" pitchFamily="34" charset="-120"/>
              </a:rPr>
              <a:t>Navy logo on white. White logo on navy. No other combination exists.</a:t>
            </a:r>
            <a:endParaRPr lang="en-US" sz="1200" dirty="0"/>
          </a:p>
          <a:p>
            <a:pPr indent="0" marL="0">
              <a:lnSpc>
                <a:spcPts val="1600"/>
              </a:lnSpc>
              <a:spcAft>
                <a:spcPts val="400"/>
              </a:spcAft>
              <a:buNone/>
            </a:pPr>
            <a:r>
              <a:rPr lang="en-US" sz="1200" b="1" dirty="0">
                <a:solidFill>
                  <a:srgbClr val="003087"/>
                </a:solidFill>
                <a:latin typeface="Arial" pitchFamily="34" charset="0"/>
                <a:ea typeface="Arial" pitchFamily="34" charset="-122"/>
                <a:cs typeface="Arial" pitchFamily="34" charset="-120"/>
              </a:rPr>
              <a:t>Rule 2: Space and size</a:t>
            </a:r>
            <a:endParaRPr lang="en-US" sz="1200" dirty="0"/>
          </a:p>
          <a:p>
            <a:pPr indent="0" marL="0">
              <a:lnSpc>
                <a:spcPts val="1600"/>
              </a:lnSpc>
              <a:spcAft>
                <a:spcPts val="1200"/>
              </a:spcAft>
              <a:buNone/>
            </a:pPr>
            <a:r>
              <a:rPr lang="en-US" sz="1200" dirty="0">
                <a:solidFill>
                  <a:srgbClr val="11203A"/>
                </a:solidFill>
                <a:latin typeface="Arial" pitchFamily="34" charset="0"/>
                <a:ea typeface="Arial" pitchFamily="34" charset="-122"/>
                <a:cs typeface="Arial" pitchFamily="34" charset="-120"/>
              </a:rPr>
              <a:t>Clear space around the logo equals the height of the “Z”, on all sides. Below 120px wide, switch to the icon-only mark.</a:t>
            </a:r>
            <a:endParaRPr lang="en-US" sz="1200" dirty="0"/>
          </a:p>
          <a:p>
            <a:pPr indent="0" marL="0">
              <a:lnSpc>
                <a:spcPts val="1600"/>
              </a:lnSpc>
              <a:buNone/>
            </a:pPr>
            <a:r>
              <a:rPr lang="en-US" sz="1200" i="1" dirty="0">
                <a:solidFill>
                  <a:srgbClr val="5A6B80"/>
                </a:solidFill>
                <a:latin typeface="Arial" pitchFamily="34" charset="0"/>
                <a:ea typeface="Arial" pitchFamily="34" charset="-122"/>
                <a:cs typeface="Arial" pitchFamily="34" charset="-120"/>
              </a:rPr>
              <a:t>All approved files live in ZHL_Logo_Kit_v1. Use only those files.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37744"/>
            <a:ext cx="5486400" cy="256032"/>
          </a:xfrm>
          <a:prstGeom prst="rect">
            <a:avLst/>
          </a:prstGeom>
          <a:noFill/>
          <a:ln/>
        </p:spPr>
        <p:txBody>
          <a:bodyPr wrap="square" rtlCol="0" anchor="ctr"/>
          <a:lstStyle/>
          <a:p>
            <a:pPr indent="0" marL="0">
              <a:buNone/>
            </a:pPr>
            <a:r>
              <a:rPr lang="en-US" sz="1000" b="1" spc="400" kern="0" dirty="0">
                <a:solidFill>
                  <a:srgbClr val="5A6B80"/>
                </a:solidFill>
                <a:latin typeface="Arial" pitchFamily="34" charset="0"/>
                <a:ea typeface="Arial" pitchFamily="34" charset="-122"/>
                <a:cs typeface="Arial" pitchFamily="34" charset="-120"/>
              </a:rPr>
              <a:t>09  ·  LOGO MISUSE</a:t>
            </a:r>
            <a:endParaRPr lang="en-US" sz="1000" dirty="0"/>
          </a:p>
        </p:txBody>
      </p:sp>
      <p:sp>
        <p:nvSpPr>
          <p:cNvPr id="3" name="Text 1"/>
          <p:cNvSpPr/>
          <p:nvPr/>
        </p:nvSpPr>
        <p:spPr>
          <a:xfrm>
            <a:off x="8046720" y="237744"/>
            <a:ext cx="548640" cy="256032"/>
          </a:xfrm>
          <a:prstGeom prst="rect">
            <a:avLst/>
          </a:prstGeom>
          <a:noFill/>
          <a:ln/>
        </p:spPr>
        <p:txBody>
          <a:bodyPr wrap="square" rtlCol="0" anchor="ctr"/>
          <a:lstStyle/>
          <a:p>
            <a:pPr algn="r" indent="0" marL="0">
              <a:buNone/>
            </a:pPr>
            <a:r>
              <a:rPr lang="en-US" sz="1000" spc="200" kern="0" dirty="0">
                <a:solidFill>
                  <a:srgbClr val="5A6B80"/>
                </a:solidFill>
                <a:latin typeface="Arial" pitchFamily="34" charset="0"/>
                <a:ea typeface="Arial" pitchFamily="34" charset="-122"/>
                <a:cs typeface="Arial" pitchFamily="34" charset="-120"/>
              </a:rPr>
              <a:t>10</a:t>
            </a:r>
            <a:endParaRPr lang="en-US" sz="1000" dirty="0"/>
          </a:p>
        </p:txBody>
      </p:sp>
      <p:sp>
        <p:nvSpPr>
          <p:cNvPr id="4" name="Text 2"/>
          <p:cNvSpPr/>
          <p:nvPr/>
        </p:nvSpPr>
        <p:spPr>
          <a:xfrm>
            <a:off x="548640" y="512064"/>
            <a:ext cx="8046720" cy="475488"/>
          </a:xfrm>
          <a:prstGeom prst="rect">
            <a:avLst/>
          </a:prstGeom>
          <a:noFill/>
          <a:ln/>
        </p:spPr>
        <p:txBody>
          <a:bodyPr wrap="square" rtlCol="0" anchor="ctr"/>
          <a:lstStyle/>
          <a:p>
            <a:pPr indent="0" marL="0">
              <a:buNone/>
            </a:pPr>
            <a:r>
              <a:rPr lang="en-US" sz="2700" b="1" dirty="0">
                <a:solidFill>
                  <a:srgbClr val="003087"/>
                </a:solidFill>
                <a:latin typeface="Arial" pitchFamily="34" charset="0"/>
                <a:ea typeface="Arial" pitchFamily="34" charset="-122"/>
                <a:cs typeface="Arial" pitchFamily="34" charset="-120"/>
              </a:rPr>
              <a:t>Never do this to the logo</a:t>
            </a:r>
            <a:endParaRPr lang="en-US" sz="2700" dirty="0"/>
          </a:p>
        </p:txBody>
      </p:sp>
      <p:pic>
        <p:nvPicPr>
          <p:cNvPr id="5" name="Image 0" descr="assets/misuse_stretch.png">    </p:cNvPr>
          <p:cNvPicPr>
            <a:picLocks noChangeAspect="1"/>
          </p:cNvPicPr>
          <p:nvPr/>
        </p:nvPicPr>
        <p:blipFill>
          <a:blip r:embed="rId1"/>
          <a:stretch>
            <a:fillRect/>
          </a:stretch>
        </p:blipFill>
        <p:spPr>
          <a:xfrm>
            <a:off x="548640" y="1280160"/>
            <a:ext cx="2560320" cy="1325880"/>
          </a:xfrm>
          <a:prstGeom prst="rect">
            <a:avLst/>
          </a:prstGeom>
        </p:spPr>
      </p:pic>
      <p:sp>
        <p:nvSpPr>
          <p:cNvPr id="6" name="Text 3"/>
          <p:cNvSpPr/>
          <p:nvPr/>
        </p:nvSpPr>
        <p:spPr>
          <a:xfrm>
            <a:off x="548640" y="2624328"/>
            <a:ext cx="2560320" cy="274320"/>
          </a:xfrm>
          <a:prstGeom prst="rect">
            <a:avLst/>
          </a:prstGeom>
          <a:noFill/>
          <a:ln/>
        </p:spPr>
        <p:txBody>
          <a:bodyPr wrap="square" rtlCol="0" anchor="ctr"/>
          <a:lstStyle/>
          <a:p>
            <a:pPr algn="ctr" indent="0" marL="0">
              <a:buNone/>
            </a:pPr>
            <a:r>
              <a:rPr lang="en-US" sz="1050" b="1" dirty="0">
                <a:solidFill>
                  <a:srgbClr val="C0392B"/>
                </a:solidFill>
                <a:latin typeface="Arial" pitchFamily="34" charset="0"/>
                <a:ea typeface="Arial" pitchFamily="34" charset="-122"/>
                <a:cs typeface="Arial" pitchFamily="34" charset="-120"/>
              </a:rPr>
              <a:t>Don’t stretch or squish</a:t>
            </a:r>
            <a:endParaRPr lang="en-US" sz="1050" dirty="0"/>
          </a:p>
        </p:txBody>
      </p:sp>
      <p:pic>
        <p:nvPicPr>
          <p:cNvPr id="7" name="Image 1" descr="assets/misuse_recolor.png">    </p:cNvPr>
          <p:cNvPicPr>
            <a:picLocks noChangeAspect="1"/>
          </p:cNvPicPr>
          <p:nvPr/>
        </p:nvPicPr>
        <p:blipFill>
          <a:blip r:embed="rId2"/>
          <a:stretch>
            <a:fillRect/>
          </a:stretch>
        </p:blipFill>
        <p:spPr>
          <a:xfrm>
            <a:off x="3337560" y="1280160"/>
            <a:ext cx="2560320" cy="1325880"/>
          </a:xfrm>
          <a:prstGeom prst="rect">
            <a:avLst/>
          </a:prstGeom>
        </p:spPr>
      </p:pic>
      <p:sp>
        <p:nvSpPr>
          <p:cNvPr id="8" name="Text 4"/>
          <p:cNvSpPr/>
          <p:nvPr/>
        </p:nvSpPr>
        <p:spPr>
          <a:xfrm>
            <a:off x="3337560" y="2624328"/>
            <a:ext cx="2560320" cy="274320"/>
          </a:xfrm>
          <a:prstGeom prst="rect">
            <a:avLst/>
          </a:prstGeom>
          <a:noFill/>
          <a:ln/>
        </p:spPr>
        <p:txBody>
          <a:bodyPr wrap="square" rtlCol="0" anchor="ctr"/>
          <a:lstStyle/>
          <a:p>
            <a:pPr algn="ctr" indent="0" marL="0">
              <a:buNone/>
            </a:pPr>
            <a:r>
              <a:rPr lang="en-US" sz="1050" b="1" dirty="0">
                <a:solidFill>
                  <a:srgbClr val="C0392B"/>
                </a:solidFill>
                <a:latin typeface="Arial" pitchFamily="34" charset="0"/>
                <a:ea typeface="Arial" pitchFamily="34" charset="-122"/>
                <a:cs typeface="Arial" pitchFamily="34" charset="-120"/>
              </a:rPr>
              <a:t>Don’t recolor</a:t>
            </a:r>
            <a:endParaRPr lang="en-US" sz="1050" dirty="0"/>
          </a:p>
        </p:txBody>
      </p:sp>
      <p:pic>
        <p:nvPicPr>
          <p:cNvPr id="9" name="Image 2" descr="assets/misuse_oldblue.png">    </p:cNvPr>
          <p:cNvPicPr>
            <a:picLocks noChangeAspect="1"/>
          </p:cNvPicPr>
          <p:nvPr/>
        </p:nvPicPr>
        <p:blipFill>
          <a:blip r:embed="rId3"/>
          <a:stretch>
            <a:fillRect/>
          </a:stretch>
        </p:blipFill>
        <p:spPr>
          <a:xfrm>
            <a:off x="6126480" y="1280160"/>
            <a:ext cx="2560320" cy="1325880"/>
          </a:xfrm>
          <a:prstGeom prst="rect">
            <a:avLst/>
          </a:prstGeom>
        </p:spPr>
      </p:pic>
      <p:sp>
        <p:nvSpPr>
          <p:cNvPr id="10" name="Text 5"/>
          <p:cNvSpPr/>
          <p:nvPr/>
        </p:nvSpPr>
        <p:spPr>
          <a:xfrm>
            <a:off x="6126480" y="2624328"/>
            <a:ext cx="2560320" cy="274320"/>
          </a:xfrm>
          <a:prstGeom prst="rect">
            <a:avLst/>
          </a:prstGeom>
          <a:noFill/>
          <a:ln/>
        </p:spPr>
        <p:txBody>
          <a:bodyPr wrap="square" rtlCol="0" anchor="ctr"/>
          <a:lstStyle/>
          <a:p>
            <a:pPr algn="ctr" indent="0" marL="0">
              <a:buNone/>
            </a:pPr>
            <a:r>
              <a:rPr lang="en-US" sz="1050" b="1" dirty="0">
                <a:solidFill>
                  <a:srgbClr val="C0392B"/>
                </a:solidFill>
                <a:latin typeface="Arial" pitchFamily="34" charset="0"/>
                <a:ea typeface="Arial" pitchFamily="34" charset="-122"/>
                <a:cs typeface="Arial" pitchFamily="34" charset="-120"/>
              </a:rPr>
              <a:t>Don’t use retired blues</a:t>
            </a:r>
            <a:endParaRPr lang="en-US" sz="1050" dirty="0"/>
          </a:p>
        </p:txBody>
      </p:sp>
      <p:pic>
        <p:nvPicPr>
          <p:cNvPr id="11" name="Image 3" descr="assets/misuse_busy.png">    </p:cNvPr>
          <p:cNvPicPr>
            <a:picLocks noChangeAspect="1"/>
          </p:cNvPicPr>
          <p:nvPr/>
        </p:nvPicPr>
        <p:blipFill>
          <a:blip r:embed="rId4"/>
          <a:stretch>
            <a:fillRect/>
          </a:stretch>
        </p:blipFill>
        <p:spPr>
          <a:xfrm>
            <a:off x="548640" y="3044952"/>
            <a:ext cx="2560320" cy="1325880"/>
          </a:xfrm>
          <a:prstGeom prst="rect">
            <a:avLst/>
          </a:prstGeom>
        </p:spPr>
      </p:pic>
      <p:sp>
        <p:nvSpPr>
          <p:cNvPr id="12" name="Text 6"/>
          <p:cNvSpPr/>
          <p:nvPr/>
        </p:nvSpPr>
        <p:spPr>
          <a:xfrm>
            <a:off x="548640" y="4389120"/>
            <a:ext cx="2560320" cy="274320"/>
          </a:xfrm>
          <a:prstGeom prst="rect">
            <a:avLst/>
          </a:prstGeom>
          <a:noFill/>
          <a:ln/>
        </p:spPr>
        <p:txBody>
          <a:bodyPr wrap="square" rtlCol="0" anchor="ctr"/>
          <a:lstStyle/>
          <a:p>
            <a:pPr algn="ctr" indent="0" marL="0">
              <a:buNone/>
            </a:pPr>
            <a:r>
              <a:rPr lang="en-US" sz="1050" b="1" dirty="0">
                <a:solidFill>
                  <a:srgbClr val="C0392B"/>
                </a:solidFill>
                <a:latin typeface="Arial" pitchFamily="34" charset="0"/>
                <a:ea typeface="Arial" pitchFamily="34" charset="-122"/>
                <a:cs typeface="Arial" pitchFamily="34" charset="-120"/>
              </a:rPr>
              <a:t>Don’t place on busy backgrounds</a:t>
            </a:r>
            <a:endParaRPr lang="en-US" sz="1050" dirty="0"/>
          </a:p>
        </p:txBody>
      </p:sp>
      <p:pic>
        <p:nvPicPr>
          <p:cNvPr id="13" name="Image 4" descr="assets/misuse_lowcontrast.png">    </p:cNvPr>
          <p:cNvPicPr>
            <a:picLocks noChangeAspect="1"/>
          </p:cNvPicPr>
          <p:nvPr/>
        </p:nvPicPr>
        <p:blipFill>
          <a:blip r:embed="rId5"/>
          <a:stretch>
            <a:fillRect/>
          </a:stretch>
        </p:blipFill>
        <p:spPr>
          <a:xfrm>
            <a:off x="3337560" y="3044952"/>
            <a:ext cx="2560320" cy="1325880"/>
          </a:xfrm>
          <a:prstGeom prst="rect">
            <a:avLst/>
          </a:prstGeom>
        </p:spPr>
      </p:pic>
      <p:sp>
        <p:nvSpPr>
          <p:cNvPr id="14" name="Text 7"/>
          <p:cNvSpPr/>
          <p:nvPr/>
        </p:nvSpPr>
        <p:spPr>
          <a:xfrm>
            <a:off x="3337560" y="4389120"/>
            <a:ext cx="2560320" cy="274320"/>
          </a:xfrm>
          <a:prstGeom prst="rect">
            <a:avLst/>
          </a:prstGeom>
          <a:noFill/>
          <a:ln/>
        </p:spPr>
        <p:txBody>
          <a:bodyPr wrap="square" rtlCol="0" anchor="ctr"/>
          <a:lstStyle/>
          <a:p>
            <a:pPr algn="ctr" indent="0" marL="0">
              <a:buNone/>
            </a:pPr>
            <a:r>
              <a:rPr lang="en-US" sz="1050" b="1" dirty="0">
                <a:solidFill>
                  <a:srgbClr val="C0392B"/>
                </a:solidFill>
                <a:latin typeface="Arial" pitchFamily="34" charset="0"/>
                <a:ea typeface="Arial" pitchFamily="34" charset="-122"/>
                <a:cs typeface="Arial" pitchFamily="34" charset="-120"/>
              </a:rPr>
              <a:t>Don’t use low-contrast pairings</a:t>
            </a:r>
            <a:endParaRPr lang="en-US" sz="1050" dirty="0"/>
          </a:p>
        </p:txBody>
      </p:sp>
      <p:pic>
        <p:nvPicPr>
          <p:cNvPr id="15" name="Image 5" descr="assets/misuse_rotate.png">    </p:cNvPr>
          <p:cNvPicPr>
            <a:picLocks noChangeAspect="1"/>
          </p:cNvPicPr>
          <p:nvPr/>
        </p:nvPicPr>
        <p:blipFill>
          <a:blip r:embed="rId6"/>
          <a:stretch>
            <a:fillRect/>
          </a:stretch>
        </p:blipFill>
        <p:spPr>
          <a:xfrm>
            <a:off x="6126480" y="3044952"/>
            <a:ext cx="2560320" cy="1325880"/>
          </a:xfrm>
          <a:prstGeom prst="rect">
            <a:avLst/>
          </a:prstGeom>
        </p:spPr>
      </p:pic>
      <p:sp>
        <p:nvSpPr>
          <p:cNvPr id="16" name="Text 8"/>
          <p:cNvSpPr/>
          <p:nvPr/>
        </p:nvSpPr>
        <p:spPr>
          <a:xfrm>
            <a:off x="6126480" y="4389120"/>
            <a:ext cx="2560320" cy="274320"/>
          </a:xfrm>
          <a:prstGeom prst="rect">
            <a:avLst/>
          </a:prstGeom>
          <a:noFill/>
          <a:ln/>
        </p:spPr>
        <p:txBody>
          <a:bodyPr wrap="square" rtlCol="0" anchor="ctr"/>
          <a:lstStyle/>
          <a:p>
            <a:pPr algn="ctr" indent="0" marL="0">
              <a:buNone/>
            </a:pPr>
            <a:r>
              <a:rPr lang="en-US" sz="1050" b="1" dirty="0">
                <a:solidFill>
                  <a:srgbClr val="C0392B"/>
                </a:solidFill>
                <a:latin typeface="Arial" pitchFamily="34" charset="0"/>
                <a:ea typeface="Arial" pitchFamily="34" charset="-122"/>
                <a:cs typeface="Arial" pitchFamily="34" charset="-120"/>
              </a:rPr>
              <a:t>Don’t rotate or add effects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37744"/>
            <a:ext cx="5486400" cy="256032"/>
          </a:xfrm>
          <a:prstGeom prst="rect">
            <a:avLst/>
          </a:prstGeom>
          <a:noFill/>
          <a:ln/>
        </p:spPr>
        <p:txBody>
          <a:bodyPr wrap="square" rtlCol="0" anchor="ctr"/>
          <a:lstStyle/>
          <a:p>
            <a:pPr indent="0" marL="0">
              <a:buNone/>
            </a:pPr>
            <a:r>
              <a:rPr lang="en-US" sz="1000" b="1" spc="400" kern="0" dirty="0">
                <a:solidFill>
                  <a:srgbClr val="5A6B80"/>
                </a:solidFill>
                <a:latin typeface="Arial" pitchFamily="34" charset="0"/>
                <a:ea typeface="Arial" pitchFamily="34" charset="-122"/>
                <a:cs typeface="Arial" pitchFamily="34" charset="-120"/>
              </a:rPr>
              <a:t>10  ·  COLOR</a:t>
            </a:r>
            <a:endParaRPr lang="en-US" sz="1000" dirty="0"/>
          </a:p>
        </p:txBody>
      </p:sp>
      <p:sp>
        <p:nvSpPr>
          <p:cNvPr id="3" name="Text 1"/>
          <p:cNvSpPr/>
          <p:nvPr/>
        </p:nvSpPr>
        <p:spPr>
          <a:xfrm>
            <a:off x="8046720" y="237744"/>
            <a:ext cx="548640" cy="256032"/>
          </a:xfrm>
          <a:prstGeom prst="rect">
            <a:avLst/>
          </a:prstGeom>
          <a:noFill/>
          <a:ln/>
        </p:spPr>
        <p:txBody>
          <a:bodyPr wrap="square" rtlCol="0" anchor="ctr"/>
          <a:lstStyle/>
          <a:p>
            <a:pPr algn="r" indent="0" marL="0">
              <a:buNone/>
            </a:pPr>
            <a:r>
              <a:rPr lang="en-US" sz="1000" spc="200" kern="0" dirty="0">
                <a:solidFill>
                  <a:srgbClr val="5A6B80"/>
                </a:solidFill>
                <a:latin typeface="Arial" pitchFamily="34" charset="0"/>
                <a:ea typeface="Arial" pitchFamily="34" charset="-122"/>
                <a:cs typeface="Arial" pitchFamily="34" charset="-120"/>
              </a:rPr>
              <a:t>11</a:t>
            </a:r>
            <a:endParaRPr lang="en-US" sz="1000" dirty="0"/>
          </a:p>
        </p:txBody>
      </p:sp>
      <p:sp>
        <p:nvSpPr>
          <p:cNvPr id="4" name="Text 2"/>
          <p:cNvSpPr/>
          <p:nvPr/>
        </p:nvSpPr>
        <p:spPr>
          <a:xfrm>
            <a:off x="548640" y="512064"/>
            <a:ext cx="8046720" cy="475488"/>
          </a:xfrm>
          <a:prstGeom prst="rect">
            <a:avLst/>
          </a:prstGeom>
          <a:noFill/>
          <a:ln/>
        </p:spPr>
        <p:txBody>
          <a:bodyPr wrap="square" rtlCol="0" anchor="ctr"/>
          <a:lstStyle/>
          <a:p>
            <a:pPr indent="0" marL="0">
              <a:buNone/>
            </a:pPr>
            <a:r>
              <a:rPr lang="en-US" sz="2700" b="1" dirty="0">
                <a:solidFill>
                  <a:srgbClr val="003087"/>
                </a:solidFill>
                <a:latin typeface="Arial" pitchFamily="34" charset="0"/>
                <a:ea typeface="Arial" pitchFamily="34" charset="-122"/>
                <a:cs typeface="Arial" pitchFamily="34" charset="-120"/>
              </a:rPr>
              <a:t>Our colors</a:t>
            </a:r>
            <a:endParaRPr lang="en-US" sz="2700" dirty="0"/>
          </a:p>
        </p:txBody>
      </p:sp>
      <p:sp>
        <p:nvSpPr>
          <p:cNvPr id="5" name="Shape 3"/>
          <p:cNvSpPr/>
          <p:nvPr/>
        </p:nvSpPr>
        <p:spPr>
          <a:xfrm>
            <a:off x="548640" y="1234440"/>
            <a:ext cx="2560320" cy="1188720"/>
          </a:xfrm>
          <a:prstGeom prst="roundRect">
            <a:avLst>
              <a:gd name="adj" fmla="val 5385"/>
            </a:avLst>
          </a:prstGeom>
          <a:solidFill>
            <a:srgbClr val="003087"/>
          </a:solidFill>
          <a:ln/>
        </p:spPr>
      </p:sp>
      <p:sp>
        <p:nvSpPr>
          <p:cNvPr id="6" name="Text 4"/>
          <p:cNvSpPr/>
          <p:nvPr/>
        </p:nvSpPr>
        <p:spPr>
          <a:xfrm>
            <a:off x="749808" y="1344168"/>
            <a:ext cx="2194560" cy="1005840"/>
          </a:xfrm>
          <a:prstGeom prst="rect">
            <a:avLst/>
          </a:prstGeom>
          <a:noFill/>
          <a:ln/>
        </p:spPr>
        <p:txBody>
          <a:bodyPr wrap="square" rtlCol="0" anchor="ctr"/>
          <a:lstStyle/>
          <a:p>
            <a:pPr indent="0" marL="0">
              <a:lnSpc>
                <a:spcPts val="1200"/>
              </a:lnSpc>
              <a:buNone/>
            </a:pPr>
            <a:r>
              <a:rPr lang="en-US" sz="1300" b="1" dirty="0">
                <a:solidFill>
                  <a:srgbClr val="FFFFFF"/>
                </a:solidFill>
                <a:latin typeface="Arial" pitchFamily="34" charset="0"/>
                <a:ea typeface="Arial" pitchFamily="34" charset="-122"/>
                <a:cs typeface="Arial" pitchFamily="34" charset="-120"/>
              </a:rPr>
              <a:t>ZHL Navy</a:t>
            </a:r>
            <a:endParaRPr lang="en-US" sz="1300" dirty="0"/>
          </a:p>
          <a:p>
            <a:pPr indent="0" marL="0">
              <a:lnSpc>
                <a:spcPts val="1200"/>
              </a:lnSpc>
              <a:spcAft>
                <a:spcPts val="300"/>
              </a:spcAft>
              <a:buNone/>
            </a:pPr>
            <a:r>
              <a:rPr lang="en-US" sz="950" dirty="0">
                <a:solidFill>
                  <a:srgbClr val="B5D4F4"/>
                </a:solidFill>
                <a:latin typeface="Arial" pitchFamily="34" charset="0"/>
                <a:ea typeface="Arial" pitchFamily="34" charset="-122"/>
                <a:cs typeface="Arial" pitchFamily="34" charset="-120"/>
              </a:rPr>
              <a:t>Pantone 287C · #003087</a:t>
            </a:r>
            <a:endParaRPr lang="en-US" sz="1300" dirty="0"/>
          </a:p>
          <a:p>
            <a:pPr indent="0" marL="0">
              <a:lnSpc>
                <a:spcPts val="1200"/>
              </a:lnSpc>
              <a:buNone/>
            </a:pPr>
            <a:r>
              <a:rPr lang="en-US" sz="950" dirty="0">
                <a:solidFill>
                  <a:srgbClr val="B5D4F4"/>
                </a:solidFill>
                <a:latin typeface="Arial" pitchFamily="34" charset="0"/>
                <a:ea typeface="Arial" pitchFamily="34" charset="-122"/>
                <a:cs typeface="Arial" pitchFamily="34" charset="-120"/>
              </a:rPr>
              <a:t>The brand. Logo, headers, heroes.</a:t>
            </a:r>
            <a:endParaRPr lang="en-US" sz="1300" dirty="0"/>
          </a:p>
        </p:txBody>
      </p:sp>
      <p:sp>
        <p:nvSpPr>
          <p:cNvPr id="7" name="Shape 5"/>
          <p:cNvSpPr/>
          <p:nvPr/>
        </p:nvSpPr>
        <p:spPr>
          <a:xfrm>
            <a:off x="3337560" y="1234440"/>
            <a:ext cx="2560320" cy="1188720"/>
          </a:xfrm>
          <a:prstGeom prst="roundRect">
            <a:avLst>
              <a:gd name="adj" fmla="val 5385"/>
            </a:avLst>
          </a:prstGeom>
          <a:solidFill>
            <a:srgbClr val="006EFF"/>
          </a:solidFill>
          <a:ln/>
        </p:spPr>
      </p:sp>
      <p:sp>
        <p:nvSpPr>
          <p:cNvPr id="8" name="Text 6"/>
          <p:cNvSpPr/>
          <p:nvPr/>
        </p:nvSpPr>
        <p:spPr>
          <a:xfrm>
            <a:off x="3538728" y="1344168"/>
            <a:ext cx="2194560" cy="1005840"/>
          </a:xfrm>
          <a:prstGeom prst="rect">
            <a:avLst/>
          </a:prstGeom>
          <a:noFill/>
          <a:ln/>
        </p:spPr>
        <p:txBody>
          <a:bodyPr wrap="square" rtlCol="0" anchor="ctr"/>
          <a:lstStyle/>
          <a:p>
            <a:pPr indent="0" marL="0">
              <a:lnSpc>
                <a:spcPts val="1200"/>
              </a:lnSpc>
              <a:buNone/>
            </a:pPr>
            <a:r>
              <a:rPr lang="en-US" sz="1300" b="1" dirty="0">
                <a:solidFill>
                  <a:srgbClr val="FFFFFF"/>
                </a:solidFill>
                <a:latin typeface="Arial" pitchFamily="34" charset="0"/>
                <a:ea typeface="Arial" pitchFamily="34" charset="-122"/>
                <a:cs typeface="Arial" pitchFamily="34" charset="-120"/>
              </a:rPr>
              <a:t>Horizon Blue</a:t>
            </a:r>
            <a:endParaRPr lang="en-US" sz="1300" dirty="0"/>
          </a:p>
          <a:p>
            <a:pPr indent="0" marL="0">
              <a:lnSpc>
                <a:spcPts val="1200"/>
              </a:lnSpc>
              <a:spcAft>
                <a:spcPts val="300"/>
              </a:spcAft>
              <a:buNone/>
            </a:pPr>
            <a:r>
              <a:rPr lang="en-US" sz="950" dirty="0">
                <a:solidFill>
                  <a:srgbClr val="E6F1FB"/>
                </a:solidFill>
                <a:latin typeface="Arial" pitchFamily="34" charset="0"/>
                <a:ea typeface="Arial" pitchFamily="34" charset="-122"/>
                <a:cs typeface="Arial" pitchFamily="34" charset="-120"/>
              </a:rPr>
              <a:t>#006EFF (text: #0061E0)</a:t>
            </a:r>
            <a:endParaRPr lang="en-US" sz="1300" dirty="0"/>
          </a:p>
          <a:p>
            <a:pPr indent="0" marL="0">
              <a:lnSpc>
                <a:spcPts val="1200"/>
              </a:lnSpc>
              <a:buNone/>
            </a:pPr>
            <a:r>
              <a:rPr lang="en-US" sz="950" dirty="0">
                <a:solidFill>
                  <a:srgbClr val="E6F1FB"/>
                </a:solidFill>
                <a:latin typeface="Arial" pitchFamily="34" charset="0"/>
                <a:ea typeface="Arial" pitchFamily="34" charset="-122"/>
                <a:cs typeface="Arial" pitchFamily="34" charset="-120"/>
              </a:rPr>
              <a:t>The action. Buttons, links, highlights. Max 10%.</a:t>
            </a:r>
            <a:endParaRPr lang="en-US" sz="1300" dirty="0"/>
          </a:p>
        </p:txBody>
      </p:sp>
      <p:sp>
        <p:nvSpPr>
          <p:cNvPr id="9" name="Shape 7"/>
          <p:cNvSpPr/>
          <p:nvPr/>
        </p:nvSpPr>
        <p:spPr>
          <a:xfrm>
            <a:off x="6126480" y="1234440"/>
            <a:ext cx="2560320" cy="1188720"/>
          </a:xfrm>
          <a:prstGeom prst="roundRect">
            <a:avLst>
              <a:gd name="adj" fmla="val 5385"/>
            </a:avLst>
          </a:prstGeom>
          <a:solidFill>
            <a:srgbClr val="FFFFFF"/>
          </a:solidFill>
          <a:ln w="12700">
            <a:solidFill>
              <a:srgbClr val="D9E1EA"/>
            </a:solidFill>
            <a:prstDash val="solid"/>
          </a:ln>
        </p:spPr>
      </p:sp>
      <p:sp>
        <p:nvSpPr>
          <p:cNvPr id="10" name="Text 8"/>
          <p:cNvSpPr/>
          <p:nvPr/>
        </p:nvSpPr>
        <p:spPr>
          <a:xfrm>
            <a:off x="6327648" y="1344168"/>
            <a:ext cx="2194560" cy="1005840"/>
          </a:xfrm>
          <a:prstGeom prst="rect">
            <a:avLst/>
          </a:prstGeom>
          <a:noFill/>
          <a:ln/>
        </p:spPr>
        <p:txBody>
          <a:bodyPr wrap="square" rtlCol="0" anchor="ctr"/>
          <a:lstStyle/>
          <a:p>
            <a:pPr indent="0" marL="0">
              <a:lnSpc>
                <a:spcPts val="1200"/>
              </a:lnSpc>
              <a:buNone/>
            </a:pPr>
            <a:r>
              <a:rPr lang="en-US" sz="1300" b="1" dirty="0">
                <a:solidFill>
                  <a:srgbClr val="11203A"/>
                </a:solidFill>
                <a:latin typeface="Arial" pitchFamily="34" charset="0"/>
                <a:ea typeface="Arial" pitchFamily="34" charset="-122"/>
                <a:cs typeface="Arial" pitchFamily="34" charset="-120"/>
              </a:rPr>
              <a:t>Pure White</a:t>
            </a:r>
            <a:endParaRPr lang="en-US" sz="1300" dirty="0"/>
          </a:p>
          <a:p>
            <a:pPr indent="0" marL="0">
              <a:lnSpc>
                <a:spcPts val="1200"/>
              </a:lnSpc>
              <a:spcAft>
                <a:spcPts val="300"/>
              </a:spcAft>
              <a:buNone/>
            </a:pPr>
            <a:r>
              <a:rPr lang="en-US" sz="950" dirty="0">
                <a:solidFill>
                  <a:srgbClr val="5A6B80"/>
                </a:solidFill>
                <a:latin typeface="Arial" pitchFamily="34" charset="0"/>
                <a:ea typeface="Arial" pitchFamily="34" charset="-122"/>
                <a:cs typeface="Arial" pitchFamily="34" charset="-120"/>
              </a:rPr>
              <a:t>#FFFFFF</a:t>
            </a:r>
            <a:endParaRPr lang="en-US" sz="1300" dirty="0"/>
          </a:p>
          <a:p>
            <a:pPr indent="0" marL="0">
              <a:lnSpc>
                <a:spcPts val="1200"/>
              </a:lnSpc>
              <a:buNone/>
            </a:pPr>
            <a:r>
              <a:rPr lang="en-US" sz="950" dirty="0">
                <a:solidFill>
                  <a:srgbClr val="5A6B80"/>
                </a:solidFill>
                <a:latin typeface="Arial" pitchFamily="34" charset="0"/>
                <a:ea typeface="Arial" pitchFamily="34" charset="-122"/>
                <a:cs typeface="Arial" pitchFamily="34" charset="-120"/>
              </a:rPr>
              <a:t>Logo reverse, cards.</a:t>
            </a:r>
            <a:endParaRPr lang="en-US" sz="1300" dirty="0"/>
          </a:p>
        </p:txBody>
      </p:sp>
      <p:sp>
        <p:nvSpPr>
          <p:cNvPr id="11" name="Shape 9"/>
          <p:cNvSpPr/>
          <p:nvPr/>
        </p:nvSpPr>
        <p:spPr>
          <a:xfrm>
            <a:off x="548640" y="2587752"/>
            <a:ext cx="2560320" cy="1188720"/>
          </a:xfrm>
          <a:prstGeom prst="roundRect">
            <a:avLst>
              <a:gd name="adj" fmla="val 5385"/>
            </a:avLst>
          </a:prstGeom>
          <a:solidFill>
            <a:srgbClr val="F5F8FC"/>
          </a:solidFill>
          <a:ln w="12700">
            <a:solidFill>
              <a:srgbClr val="D9E1EA"/>
            </a:solidFill>
            <a:prstDash val="solid"/>
          </a:ln>
        </p:spPr>
      </p:sp>
      <p:sp>
        <p:nvSpPr>
          <p:cNvPr id="12" name="Text 10"/>
          <p:cNvSpPr/>
          <p:nvPr/>
        </p:nvSpPr>
        <p:spPr>
          <a:xfrm>
            <a:off x="749808" y="2697480"/>
            <a:ext cx="2194560" cy="1005840"/>
          </a:xfrm>
          <a:prstGeom prst="rect">
            <a:avLst/>
          </a:prstGeom>
          <a:noFill/>
          <a:ln/>
        </p:spPr>
        <p:txBody>
          <a:bodyPr wrap="square" rtlCol="0" anchor="ctr"/>
          <a:lstStyle/>
          <a:p>
            <a:pPr indent="0" marL="0">
              <a:lnSpc>
                <a:spcPts val="1200"/>
              </a:lnSpc>
              <a:buNone/>
            </a:pPr>
            <a:r>
              <a:rPr lang="en-US" sz="1300" b="1" dirty="0">
                <a:solidFill>
                  <a:srgbClr val="11203A"/>
                </a:solidFill>
                <a:latin typeface="Arial" pitchFamily="34" charset="0"/>
                <a:ea typeface="Arial" pitchFamily="34" charset="-122"/>
                <a:cs typeface="Arial" pitchFamily="34" charset="-120"/>
              </a:rPr>
              <a:t>Sail White</a:t>
            </a:r>
            <a:endParaRPr lang="en-US" sz="1300" dirty="0"/>
          </a:p>
          <a:p>
            <a:pPr indent="0" marL="0">
              <a:lnSpc>
                <a:spcPts val="1200"/>
              </a:lnSpc>
              <a:spcAft>
                <a:spcPts val="300"/>
              </a:spcAft>
              <a:buNone/>
            </a:pPr>
            <a:r>
              <a:rPr lang="en-US" sz="950" dirty="0">
                <a:solidFill>
                  <a:srgbClr val="5A6B80"/>
                </a:solidFill>
                <a:latin typeface="Arial" pitchFamily="34" charset="0"/>
                <a:ea typeface="Arial" pitchFamily="34" charset="-122"/>
                <a:cs typeface="Arial" pitchFamily="34" charset="-120"/>
              </a:rPr>
              <a:t>#F5F8FC</a:t>
            </a:r>
            <a:endParaRPr lang="en-US" sz="1300" dirty="0"/>
          </a:p>
          <a:p>
            <a:pPr indent="0" marL="0">
              <a:lnSpc>
                <a:spcPts val="1200"/>
              </a:lnSpc>
              <a:buNone/>
            </a:pPr>
            <a:r>
              <a:rPr lang="en-US" sz="950" dirty="0">
                <a:solidFill>
                  <a:srgbClr val="5A6B80"/>
                </a:solidFill>
                <a:latin typeface="Arial" pitchFamily="34" charset="0"/>
                <a:ea typeface="Arial" pitchFamily="34" charset="-122"/>
                <a:cs typeface="Arial" pitchFamily="34" charset="-120"/>
              </a:rPr>
              <a:t>Page &amp; slide backgrounds.</a:t>
            </a:r>
            <a:endParaRPr lang="en-US" sz="1300" dirty="0"/>
          </a:p>
        </p:txBody>
      </p:sp>
      <p:sp>
        <p:nvSpPr>
          <p:cNvPr id="13" name="Shape 11"/>
          <p:cNvSpPr/>
          <p:nvPr/>
        </p:nvSpPr>
        <p:spPr>
          <a:xfrm>
            <a:off x="3337560" y="2587752"/>
            <a:ext cx="2560320" cy="1188720"/>
          </a:xfrm>
          <a:prstGeom prst="roundRect">
            <a:avLst>
              <a:gd name="adj" fmla="val 5385"/>
            </a:avLst>
          </a:prstGeom>
          <a:solidFill>
            <a:srgbClr val="11203A"/>
          </a:solidFill>
          <a:ln/>
        </p:spPr>
      </p:sp>
      <p:sp>
        <p:nvSpPr>
          <p:cNvPr id="14" name="Text 12"/>
          <p:cNvSpPr/>
          <p:nvPr/>
        </p:nvSpPr>
        <p:spPr>
          <a:xfrm>
            <a:off x="3538728" y="2697480"/>
            <a:ext cx="2194560" cy="1005840"/>
          </a:xfrm>
          <a:prstGeom prst="rect">
            <a:avLst/>
          </a:prstGeom>
          <a:noFill/>
          <a:ln/>
        </p:spPr>
        <p:txBody>
          <a:bodyPr wrap="square" rtlCol="0" anchor="ctr"/>
          <a:lstStyle/>
          <a:p>
            <a:pPr indent="0" marL="0">
              <a:lnSpc>
                <a:spcPts val="1200"/>
              </a:lnSpc>
              <a:buNone/>
            </a:pPr>
            <a:r>
              <a:rPr lang="en-US" sz="1300" b="1" dirty="0">
                <a:solidFill>
                  <a:srgbClr val="FFFFFF"/>
                </a:solidFill>
                <a:latin typeface="Arial" pitchFamily="34" charset="0"/>
                <a:ea typeface="Arial" pitchFamily="34" charset="-122"/>
                <a:cs typeface="Arial" pitchFamily="34" charset="-120"/>
              </a:rPr>
              <a:t>Ink Navy</a:t>
            </a:r>
            <a:endParaRPr lang="en-US" sz="1300" dirty="0"/>
          </a:p>
          <a:p>
            <a:pPr indent="0" marL="0">
              <a:lnSpc>
                <a:spcPts val="1200"/>
              </a:lnSpc>
              <a:spcAft>
                <a:spcPts val="300"/>
              </a:spcAft>
              <a:buNone/>
            </a:pPr>
            <a:r>
              <a:rPr lang="en-US" sz="950" dirty="0">
                <a:solidFill>
                  <a:srgbClr val="B5D4F4"/>
                </a:solidFill>
                <a:latin typeface="Arial" pitchFamily="34" charset="0"/>
                <a:ea typeface="Arial" pitchFamily="34" charset="-122"/>
                <a:cs typeface="Arial" pitchFamily="34" charset="-120"/>
              </a:rPr>
              <a:t>#11203A</a:t>
            </a:r>
            <a:endParaRPr lang="en-US" sz="1300" dirty="0"/>
          </a:p>
          <a:p>
            <a:pPr indent="0" marL="0">
              <a:lnSpc>
                <a:spcPts val="1200"/>
              </a:lnSpc>
              <a:buNone/>
            </a:pPr>
            <a:r>
              <a:rPr lang="en-US" sz="950" dirty="0">
                <a:solidFill>
                  <a:srgbClr val="B5D4F4"/>
                </a:solidFill>
                <a:latin typeface="Arial" pitchFamily="34" charset="0"/>
                <a:ea typeface="Arial" pitchFamily="34" charset="-122"/>
                <a:cs typeface="Arial" pitchFamily="34" charset="-120"/>
              </a:rPr>
              <a:t>Body text.</a:t>
            </a:r>
            <a:endParaRPr lang="en-US" sz="1300" dirty="0"/>
          </a:p>
        </p:txBody>
      </p:sp>
      <p:sp>
        <p:nvSpPr>
          <p:cNvPr id="15" name="Shape 13"/>
          <p:cNvSpPr/>
          <p:nvPr/>
        </p:nvSpPr>
        <p:spPr>
          <a:xfrm>
            <a:off x="6126480" y="2587752"/>
            <a:ext cx="2560320" cy="1188720"/>
          </a:xfrm>
          <a:prstGeom prst="roundRect">
            <a:avLst>
              <a:gd name="adj" fmla="val 5385"/>
            </a:avLst>
          </a:prstGeom>
          <a:solidFill>
            <a:srgbClr val="5A6B80"/>
          </a:solidFill>
          <a:ln/>
        </p:spPr>
      </p:sp>
      <p:sp>
        <p:nvSpPr>
          <p:cNvPr id="16" name="Text 14"/>
          <p:cNvSpPr/>
          <p:nvPr/>
        </p:nvSpPr>
        <p:spPr>
          <a:xfrm>
            <a:off x="6327648" y="2697480"/>
            <a:ext cx="2194560" cy="1005840"/>
          </a:xfrm>
          <a:prstGeom prst="rect">
            <a:avLst/>
          </a:prstGeom>
          <a:noFill/>
          <a:ln/>
        </p:spPr>
        <p:txBody>
          <a:bodyPr wrap="square" rtlCol="0" anchor="ctr"/>
          <a:lstStyle/>
          <a:p>
            <a:pPr indent="0" marL="0">
              <a:lnSpc>
                <a:spcPts val="1200"/>
              </a:lnSpc>
              <a:buNone/>
            </a:pPr>
            <a:r>
              <a:rPr lang="en-US" sz="1300" b="1" dirty="0">
                <a:solidFill>
                  <a:srgbClr val="FFFFFF"/>
                </a:solidFill>
                <a:latin typeface="Arial" pitchFamily="34" charset="0"/>
                <a:ea typeface="Arial" pitchFamily="34" charset="-122"/>
                <a:cs typeface="Arial" pitchFamily="34" charset="-120"/>
              </a:rPr>
              <a:t>Harbor Gray</a:t>
            </a:r>
            <a:endParaRPr lang="en-US" sz="1300" dirty="0"/>
          </a:p>
          <a:p>
            <a:pPr indent="0" marL="0">
              <a:lnSpc>
                <a:spcPts val="1200"/>
              </a:lnSpc>
              <a:spcAft>
                <a:spcPts val="300"/>
              </a:spcAft>
              <a:buNone/>
            </a:pPr>
            <a:r>
              <a:rPr lang="en-US" sz="950" dirty="0">
                <a:solidFill>
                  <a:srgbClr val="DDE4EC"/>
                </a:solidFill>
                <a:latin typeface="Arial" pitchFamily="34" charset="0"/>
                <a:ea typeface="Arial" pitchFamily="34" charset="-122"/>
                <a:cs typeface="Arial" pitchFamily="34" charset="-120"/>
              </a:rPr>
              <a:t>#5A6B80</a:t>
            </a:r>
            <a:endParaRPr lang="en-US" sz="1300" dirty="0"/>
          </a:p>
          <a:p>
            <a:pPr indent="0" marL="0">
              <a:lnSpc>
                <a:spcPts val="1200"/>
              </a:lnSpc>
              <a:buNone/>
            </a:pPr>
            <a:r>
              <a:rPr lang="en-US" sz="950" dirty="0">
                <a:solidFill>
                  <a:srgbClr val="DDE4EC"/>
                </a:solidFill>
                <a:latin typeface="Arial" pitchFamily="34" charset="0"/>
                <a:ea typeface="Arial" pitchFamily="34" charset="-122"/>
                <a:cs typeface="Arial" pitchFamily="34" charset="-120"/>
              </a:rPr>
              <a:t>Captions, secondary text.</a:t>
            </a:r>
            <a:endParaRPr lang="en-US" sz="1300" dirty="0"/>
          </a:p>
        </p:txBody>
      </p:sp>
      <p:sp>
        <p:nvSpPr>
          <p:cNvPr id="17" name="Shape 15"/>
          <p:cNvSpPr/>
          <p:nvPr/>
        </p:nvSpPr>
        <p:spPr>
          <a:xfrm>
            <a:off x="548640" y="4160520"/>
            <a:ext cx="4846320" cy="438912"/>
          </a:xfrm>
          <a:prstGeom prst="rect">
            <a:avLst/>
          </a:prstGeom>
          <a:solidFill>
            <a:srgbClr val="FFFFFF"/>
          </a:solidFill>
          <a:ln w="12700">
            <a:solidFill>
              <a:srgbClr val="D9E1EA"/>
            </a:solidFill>
            <a:prstDash val="solid"/>
          </a:ln>
        </p:spPr>
      </p:sp>
      <p:sp>
        <p:nvSpPr>
          <p:cNvPr id="18" name="Shape 16"/>
          <p:cNvSpPr/>
          <p:nvPr/>
        </p:nvSpPr>
        <p:spPr>
          <a:xfrm>
            <a:off x="5394960" y="4160520"/>
            <a:ext cx="2423160" cy="438912"/>
          </a:xfrm>
          <a:prstGeom prst="rect">
            <a:avLst/>
          </a:prstGeom>
          <a:solidFill>
            <a:srgbClr val="003087"/>
          </a:solidFill>
          <a:ln/>
        </p:spPr>
      </p:sp>
      <p:sp>
        <p:nvSpPr>
          <p:cNvPr id="19" name="Shape 17"/>
          <p:cNvSpPr/>
          <p:nvPr/>
        </p:nvSpPr>
        <p:spPr>
          <a:xfrm>
            <a:off x="7818120" y="4160520"/>
            <a:ext cx="777240" cy="438912"/>
          </a:xfrm>
          <a:prstGeom prst="rect">
            <a:avLst/>
          </a:prstGeom>
          <a:solidFill>
            <a:srgbClr val="006EFF"/>
          </a:solidFill>
          <a:ln/>
        </p:spPr>
      </p:sp>
      <p:sp>
        <p:nvSpPr>
          <p:cNvPr id="20" name="Text 18"/>
          <p:cNvSpPr/>
          <p:nvPr/>
        </p:nvSpPr>
        <p:spPr>
          <a:xfrm>
            <a:off x="548640" y="4160520"/>
            <a:ext cx="4846320" cy="438912"/>
          </a:xfrm>
          <a:prstGeom prst="rect">
            <a:avLst/>
          </a:prstGeom>
          <a:noFill/>
          <a:ln/>
        </p:spPr>
        <p:txBody>
          <a:bodyPr wrap="square" rtlCol="0" anchor="ctr"/>
          <a:lstStyle/>
          <a:p>
            <a:pPr algn="ctr" indent="0" marL="0">
              <a:buNone/>
            </a:pPr>
            <a:r>
              <a:rPr lang="en-US" sz="1100" dirty="0">
                <a:solidFill>
                  <a:srgbClr val="5A6B80"/>
                </a:solidFill>
                <a:latin typeface="Arial" pitchFamily="34" charset="0"/>
                <a:ea typeface="Arial" pitchFamily="34" charset="-122"/>
                <a:cs typeface="Arial" pitchFamily="34" charset="-120"/>
              </a:rPr>
              <a:t>60% white space</a:t>
            </a:r>
            <a:endParaRPr lang="en-US" sz="1100" dirty="0"/>
          </a:p>
        </p:txBody>
      </p:sp>
      <p:sp>
        <p:nvSpPr>
          <p:cNvPr id="21" name="Text 19"/>
          <p:cNvSpPr/>
          <p:nvPr/>
        </p:nvSpPr>
        <p:spPr>
          <a:xfrm>
            <a:off x="5394960" y="4160520"/>
            <a:ext cx="2423160" cy="438912"/>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30% navy</a:t>
            </a:r>
            <a:endParaRPr lang="en-US" sz="1100" dirty="0"/>
          </a:p>
        </p:txBody>
      </p:sp>
      <p:sp>
        <p:nvSpPr>
          <p:cNvPr id="22" name="Text 20"/>
          <p:cNvSpPr/>
          <p:nvPr/>
        </p:nvSpPr>
        <p:spPr>
          <a:xfrm>
            <a:off x="7818120" y="4160520"/>
            <a:ext cx="777240" cy="438912"/>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10%</a:t>
            </a:r>
            <a:endParaRPr lang="en-US" sz="1100" dirty="0"/>
          </a:p>
        </p:txBody>
      </p:sp>
      <p:sp>
        <p:nvSpPr>
          <p:cNvPr id="23" name="Text 21"/>
          <p:cNvSpPr/>
          <p:nvPr/>
        </p:nvSpPr>
        <p:spPr>
          <a:xfrm>
            <a:off x="548640" y="4736592"/>
            <a:ext cx="8046720" cy="320040"/>
          </a:xfrm>
          <a:prstGeom prst="rect">
            <a:avLst/>
          </a:prstGeom>
          <a:noFill/>
          <a:ln/>
        </p:spPr>
        <p:txBody>
          <a:bodyPr wrap="square" rtlCol="0" anchor="ctr"/>
          <a:lstStyle/>
          <a:p>
            <a:pPr indent="0" marL="0">
              <a:buNone/>
            </a:pPr>
            <a:r>
              <a:rPr lang="en-US" sz="1100" i="1" dirty="0">
                <a:solidFill>
                  <a:srgbClr val="5A6B80"/>
                </a:solidFill>
                <a:latin typeface="Arial" pitchFamily="34" charset="0"/>
                <a:ea typeface="Arial" pitchFamily="34" charset="-122"/>
                <a:cs typeface="Arial" pitchFamily="34" charset="-120"/>
              </a:rPr>
              <a:t>If everything is Horizon Blue, nothing is. Old blues (#042B52, #1F3D7D) are retired.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37744"/>
            <a:ext cx="5486400" cy="256032"/>
          </a:xfrm>
          <a:prstGeom prst="rect">
            <a:avLst/>
          </a:prstGeom>
          <a:noFill/>
          <a:ln/>
        </p:spPr>
        <p:txBody>
          <a:bodyPr wrap="square" rtlCol="0" anchor="ctr"/>
          <a:lstStyle/>
          <a:p>
            <a:pPr indent="0" marL="0">
              <a:buNone/>
            </a:pPr>
            <a:r>
              <a:rPr lang="en-US" sz="1000" b="1" spc="400" kern="0" dirty="0">
                <a:solidFill>
                  <a:srgbClr val="5A6B80"/>
                </a:solidFill>
                <a:latin typeface="Arial" pitchFamily="34" charset="0"/>
                <a:ea typeface="Arial" pitchFamily="34" charset="-122"/>
                <a:cs typeface="Arial" pitchFamily="34" charset="-120"/>
              </a:rPr>
              <a:t>11  ·  TYPOGRAPHY</a:t>
            </a:r>
            <a:endParaRPr lang="en-US" sz="1000" dirty="0"/>
          </a:p>
        </p:txBody>
      </p:sp>
      <p:sp>
        <p:nvSpPr>
          <p:cNvPr id="3" name="Text 1"/>
          <p:cNvSpPr/>
          <p:nvPr/>
        </p:nvSpPr>
        <p:spPr>
          <a:xfrm>
            <a:off x="8046720" y="237744"/>
            <a:ext cx="548640" cy="256032"/>
          </a:xfrm>
          <a:prstGeom prst="rect">
            <a:avLst/>
          </a:prstGeom>
          <a:noFill/>
          <a:ln/>
        </p:spPr>
        <p:txBody>
          <a:bodyPr wrap="square" rtlCol="0" anchor="ctr"/>
          <a:lstStyle/>
          <a:p>
            <a:pPr algn="r" indent="0" marL="0">
              <a:buNone/>
            </a:pPr>
            <a:r>
              <a:rPr lang="en-US" sz="1000" spc="200" kern="0" dirty="0">
                <a:solidFill>
                  <a:srgbClr val="5A6B80"/>
                </a:solidFill>
                <a:latin typeface="Arial" pitchFamily="34" charset="0"/>
                <a:ea typeface="Arial" pitchFamily="34" charset="-122"/>
                <a:cs typeface="Arial" pitchFamily="34" charset="-120"/>
              </a:rPr>
              <a:t>12</a:t>
            </a:r>
            <a:endParaRPr lang="en-US" sz="1000" dirty="0"/>
          </a:p>
        </p:txBody>
      </p:sp>
      <p:sp>
        <p:nvSpPr>
          <p:cNvPr id="4" name="Text 2"/>
          <p:cNvSpPr/>
          <p:nvPr/>
        </p:nvSpPr>
        <p:spPr>
          <a:xfrm>
            <a:off x="548640" y="512064"/>
            <a:ext cx="8046720" cy="475488"/>
          </a:xfrm>
          <a:prstGeom prst="rect">
            <a:avLst/>
          </a:prstGeom>
          <a:noFill/>
          <a:ln/>
        </p:spPr>
        <p:txBody>
          <a:bodyPr wrap="square" rtlCol="0" anchor="ctr"/>
          <a:lstStyle/>
          <a:p>
            <a:pPr indent="0" marL="0">
              <a:buNone/>
            </a:pPr>
            <a:r>
              <a:rPr lang="en-US" sz="2700" b="1" dirty="0">
                <a:solidFill>
                  <a:srgbClr val="003087"/>
                </a:solidFill>
                <a:latin typeface="Arial" pitchFamily="34" charset="0"/>
                <a:ea typeface="Arial" pitchFamily="34" charset="-122"/>
                <a:cs typeface="Arial" pitchFamily="34" charset="-120"/>
              </a:rPr>
              <a:t>Our typography</a:t>
            </a:r>
            <a:endParaRPr lang="en-US" sz="2700" dirty="0"/>
          </a:p>
        </p:txBody>
      </p:sp>
      <p:pic>
        <p:nvPicPr>
          <p:cNvPr id="5" name="Image 0" descr="assets/specimen.png">    </p:cNvPr>
          <p:cNvPicPr>
            <a:picLocks noChangeAspect="1"/>
          </p:cNvPicPr>
          <p:nvPr/>
        </p:nvPicPr>
        <p:blipFill>
          <a:blip r:embed="rId1"/>
          <a:stretch>
            <a:fillRect/>
          </a:stretch>
        </p:blipFill>
        <p:spPr>
          <a:xfrm>
            <a:off x="548640" y="1234440"/>
            <a:ext cx="5303520" cy="3049524"/>
          </a:xfrm>
          <a:prstGeom prst="rect">
            <a:avLst/>
          </a:prstGeom>
        </p:spPr>
      </p:pic>
      <p:sp>
        <p:nvSpPr>
          <p:cNvPr id="6" name="Shape 3"/>
          <p:cNvSpPr/>
          <p:nvPr/>
        </p:nvSpPr>
        <p:spPr>
          <a:xfrm>
            <a:off x="6080760" y="1234440"/>
            <a:ext cx="2514600" cy="3063240"/>
          </a:xfrm>
          <a:prstGeom prst="roundRect">
            <a:avLst>
              <a:gd name="adj" fmla="val 2909"/>
            </a:avLst>
          </a:prstGeom>
          <a:solidFill>
            <a:srgbClr val="FFFFFF"/>
          </a:solidFill>
          <a:ln w="12700">
            <a:solidFill>
              <a:srgbClr val="D9E1EA"/>
            </a:solidFill>
            <a:prstDash val="solid"/>
          </a:ln>
        </p:spPr>
      </p:sp>
      <p:sp>
        <p:nvSpPr>
          <p:cNvPr id="7" name="Text 4"/>
          <p:cNvSpPr/>
          <p:nvPr/>
        </p:nvSpPr>
        <p:spPr>
          <a:xfrm>
            <a:off x="6309360" y="1463040"/>
            <a:ext cx="2103120" cy="2651760"/>
          </a:xfrm>
          <a:prstGeom prst="rect">
            <a:avLst/>
          </a:prstGeom>
          <a:noFill/>
          <a:ln/>
        </p:spPr>
        <p:txBody>
          <a:bodyPr wrap="square" rtlCol="0" anchor="ctr"/>
          <a:lstStyle/>
          <a:p>
            <a:pPr indent="0" marL="0">
              <a:lnSpc>
                <a:spcPts val="1400"/>
              </a:lnSpc>
              <a:buNone/>
            </a:pPr>
            <a:r>
              <a:rPr lang="en-US" sz="1100" b="1" dirty="0">
                <a:solidFill>
                  <a:srgbClr val="003087"/>
                </a:solidFill>
                <a:latin typeface="Arial" pitchFamily="34" charset="0"/>
                <a:ea typeface="Arial" pitchFamily="34" charset="-122"/>
                <a:cs typeface="Arial" pitchFamily="34" charset="-120"/>
              </a:rPr>
              <a:t>Garet</a:t>
            </a:r>
            <a:endParaRPr lang="en-US" sz="1100" dirty="0"/>
          </a:p>
          <a:p>
            <a:pPr indent="0" marL="0">
              <a:lnSpc>
                <a:spcPts val="1400"/>
              </a:lnSpc>
              <a:spcAft>
                <a:spcPts val="800"/>
              </a:spcAft>
              <a:buNone/>
            </a:pPr>
            <a:r>
              <a:rPr lang="en-US" sz="1100" dirty="0">
                <a:solidFill>
                  <a:srgbClr val="11203A"/>
                </a:solidFill>
                <a:latin typeface="Arial" pitchFamily="34" charset="0"/>
                <a:ea typeface="Arial" pitchFamily="34" charset="-122"/>
                <a:cs typeface="Arial" pitchFamily="34" charset="-120"/>
              </a:rPr>
              <a:t>Headlines in Canva and print. Semibold for H1, Medium for H2 and H3.</a:t>
            </a:r>
            <a:endParaRPr lang="en-US" sz="1100" dirty="0"/>
          </a:p>
          <a:p>
            <a:pPr indent="0" marL="0">
              <a:lnSpc>
                <a:spcPts val="1400"/>
              </a:lnSpc>
              <a:buNone/>
            </a:pPr>
            <a:r>
              <a:rPr lang="en-US" sz="1100" b="1" dirty="0">
                <a:solidFill>
                  <a:srgbClr val="003087"/>
                </a:solidFill>
                <a:latin typeface="Arial" pitchFamily="34" charset="0"/>
                <a:ea typeface="Arial" pitchFamily="34" charset="-122"/>
                <a:cs typeface="Arial" pitchFamily="34" charset="-120"/>
              </a:rPr>
              <a:t>Inter</a:t>
            </a:r>
            <a:endParaRPr lang="en-US" sz="1100" dirty="0"/>
          </a:p>
          <a:p>
            <a:pPr indent="0" marL="0">
              <a:lnSpc>
                <a:spcPts val="1400"/>
              </a:lnSpc>
              <a:spcAft>
                <a:spcPts val="800"/>
              </a:spcAft>
              <a:buNone/>
            </a:pPr>
            <a:r>
              <a:rPr lang="en-US" sz="1100" dirty="0">
                <a:solidFill>
                  <a:srgbClr val="11203A"/>
                </a:solidFill>
                <a:latin typeface="Arial" pitchFamily="34" charset="0"/>
                <a:ea typeface="Arial" pitchFamily="34" charset="-122"/>
                <a:cs typeface="Arial" pitchFamily="34" charset="-120"/>
              </a:rPr>
              <a:t>All body text, everywhere. Tabular numbers keep rate tables aligned.</a:t>
            </a:r>
            <a:endParaRPr lang="en-US" sz="1100" dirty="0"/>
          </a:p>
          <a:p>
            <a:pPr indent="0" marL="0">
              <a:lnSpc>
                <a:spcPts val="1400"/>
              </a:lnSpc>
              <a:buNone/>
            </a:pPr>
            <a:r>
              <a:rPr lang="en-US" sz="1100" b="1" dirty="0">
                <a:solidFill>
                  <a:srgbClr val="003087"/>
                </a:solidFill>
                <a:latin typeface="Arial" pitchFamily="34" charset="0"/>
                <a:ea typeface="Arial" pitchFamily="34" charset="-122"/>
                <a:cs typeface="Arial" pitchFamily="34" charset="-120"/>
              </a:rPr>
              <a:t>Poppins</a:t>
            </a:r>
            <a:endParaRPr lang="en-US" sz="1100" dirty="0"/>
          </a:p>
          <a:p>
            <a:pPr indent="0" marL="0">
              <a:lnSpc>
                <a:spcPts val="1400"/>
              </a:lnSpc>
              <a:spcAft>
                <a:spcPts val="800"/>
              </a:spcAft>
              <a:buNone/>
            </a:pPr>
            <a:r>
              <a:rPr lang="en-US" sz="1100" dirty="0">
                <a:solidFill>
                  <a:srgbClr val="11203A"/>
                </a:solidFill>
                <a:latin typeface="Arial" pitchFamily="34" charset="0"/>
                <a:ea typeface="Arial" pitchFamily="34" charset="-122"/>
                <a:cs typeface="Arial" pitchFamily="34" charset="-120"/>
              </a:rPr>
              <a:t>Web substitute wherever Garet can’t be served.</a:t>
            </a:r>
            <a:endParaRPr lang="en-US" sz="1100" dirty="0"/>
          </a:p>
          <a:p>
            <a:pPr indent="0" marL="0">
              <a:lnSpc>
                <a:spcPts val="1400"/>
              </a:lnSpc>
              <a:buNone/>
            </a:pPr>
            <a:r>
              <a:rPr lang="en-US" sz="1100" i="1" dirty="0">
                <a:solidFill>
                  <a:srgbClr val="5A6B80"/>
                </a:solidFill>
                <a:latin typeface="Arial" pitchFamily="34" charset="0"/>
                <a:ea typeface="Arial" pitchFamily="34" charset="-122"/>
                <a:cs typeface="Arial" pitchFamily="34" charset="-120"/>
              </a:rPr>
              <a:t>No italics for subtext. ALL-CAPS only for short headlines.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37744"/>
            <a:ext cx="5486400" cy="256032"/>
          </a:xfrm>
          <a:prstGeom prst="rect">
            <a:avLst/>
          </a:prstGeom>
          <a:noFill/>
          <a:ln/>
        </p:spPr>
        <p:txBody>
          <a:bodyPr wrap="square" rtlCol="0" anchor="ctr"/>
          <a:lstStyle/>
          <a:p>
            <a:pPr indent="0" marL="0">
              <a:buNone/>
            </a:pPr>
            <a:r>
              <a:rPr lang="en-US" sz="1000" b="1" spc="400" kern="0" dirty="0">
                <a:solidFill>
                  <a:srgbClr val="5A6B80"/>
                </a:solidFill>
                <a:latin typeface="Arial" pitchFamily="34" charset="0"/>
                <a:ea typeface="Arial" pitchFamily="34" charset="-122"/>
                <a:cs typeface="Arial" pitchFamily="34" charset="-120"/>
              </a:rPr>
              <a:t>12  ·  THE SYSTEM</a:t>
            </a:r>
            <a:endParaRPr lang="en-US" sz="1000" dirty="0"/>
          </a:p>
        </p:txBody>
      </p:sp>
      <p:sp>
        <p:nvSpPr>
          <p:cNvPr id="3" name="Text 1"/>
          <p:cNvSpPr/>
          <p:nvPr/>
        </p:nvSpPr>
        <p:spPr>
          <a:xfrm>
            <a:off x="8046720" y="237744"/>
            <a:ext cx="548640" cy="256032"/>
          </a:xfrm>
          <a:prstGeom prst="rect">
            <a:avLst/>
          </a:prstGeom>
          <a:noFill/>
          <a:ln/>
        </p:spPr>
        <p:txBody>
          <a:bodyPr wrap="square" rtlCol="0" anchor="ctr"/>
          <a:lstStyle/>
          <a:p>
            <a:pPr algn="r" indent="0" marL="0">
              <a:buNone/>
            </a:pPr>
            <a:r>
              <a:rPr lang="en-US" sz="1000" spc="200" kern="0" dirty="0">
                <a:solidFill>
                  <a:srgbClr val="5A6B80"/>
                </a:solidFill>
                <a:latin typeface="Arial" pitchFamily="34" charset="0"/>
                <a:ea typeface="Arial" pitchFamily="34" charset="-122"/>
                <a:cs typeface="Arial" pitchFamily="34" charset="-120"/>
              </a:rPr>
              <a:t>13</a:t>
            </a:r>
            <a:endParaRPr lang="en-US" sz="1000" dirty="0"/>
          </a:p>
        </p:txBody>
      </p:sp>
      <p:sp>
        <p:nvSpPr>
          <p:cNvPr id="4" name="Text 2"/>
          <p:cNvSpPr/>
          <p:nvPr/>
        </p:nvSpPr>
        <p:spPr>
          <a:xfrm>
            <a:off x="548640" y="512064"/>
            <a:ext cx="8046720" cy="475488"/>
          </a:xfrm>
          <a:prstGeom prst="rect">
            <a:avLst/>
          </a:prstGeom>
          <a:noFill/>
          <a:ln/>
        </p:spPr>
        <p:txBody>
          <a:bodyPr wrap="square" rtlCol="0" anchor="ctr"/>
          <a:lstStyle/>
          <a:p>
            <a:pPr indent="0" marL="0">
              <a:buNone/>
            </a:pPr>
            <a:r>
              <a:rPr lang="en-US" sz="2700" b="1" dirty="0">
                <a:solidFill>
                  <a:srgbClr val="003087"/>
                </a:solidFill>
                <a:latin typeface="Arial" pitchFamily="34" charset="0"/>
                <a:ea typeface="Arial" pitchFamily="34" charset="-122"/>
                <a:cs typeface="Arial" pitchFamily="34" charset="-120"/>
              </a:rPr>
              <a:t>Icons, layout &amp; imagery</a:t>
            </a:r>
            <a:endParaRPr lang="en-US" sz="2700" dirty="0"/>
          </a:p>
        </p:txBody>
      </p:sp>
      <p:sp>
        <p:nvSpPr>
          <p:cNvPr id="5" name="Shape 3"/>
          <p:cNvSpPr/>
          <p:nvPr/>
        </p:nvSpPr>
        <p:spPr>
          <a:xfrm>
            <a:off x="548640" y="1280160"/>
            <a:ext cx="2560320" cy="3200400"/>
          </a:xfrm>
          <a:prstGeom prst="roundRect">
            <a:avLst>
              <a:gd name="adj" fmla="val 2857"/>
            </a:avLst>
          </a:prstGeom>
          <a:solidFill>
            <a:srgbClr val="FFFFFF"/>
          </a:solidFill>
          <a:ln w="12700">
            <a:solidFill>
              <a:srgbClr val="D9E1EA"/>
            </a:solidFill>
            <a:prstDash val="solid"/>
          </a:ln>
        </p:spPr>
      </p:sp>
      <p:pic>
        <p:nvPicPr>
          <p:cNvPr id="6" name="Image 0" descr="preencoded.png">    </p:cNvPr>
          <p:cNvPicPr>
            <a:picLocks noChangeAspect="1"/>
          </p:cNvPicPr>
          <p:nvPr/>
        </p:nvPicPr>
        <p:blipFill>
          <a:blip r:embed="rId1"/>
          <a:stretch>
            <a:fillRect/>
          </a:stretch>
        </p:blipFill>
        <p:spPr>
          <a:xfrm>
            <a:off x="822960" y="1600200"/>
            <a:ext cx="457200" cy="457200"/>
          </a:xfrm>
          <a:prstGeom prst="rect">
            <a:avLst/>
          </a:prstGeom>
        </p:spPr>
      </p:pic>
      <p:sp>
        <p:nvSpPr>
          <p:cNvPr id="7" name="Text 4"/>
          <p:cNvSpPr/>
          <p:nvPr/>
        </p:nvSpPr>
        <p:spPr>
          <a:xfrm>
            <a:off x="822960" y="2194560"/>
            <a:ext cx="2011680" cy="365760"/>
          </a:xfrm>
          <a:prstGeom prst="rect">
            <a:avLst/>
          </a:prstGeom>
          <a:noFill/>
          <a:ln/>
        </p:spPr>
        <p:txBody>
          <a:bodyPr wrap="square" rtlCol="0" anchor="ctr"/>
          <a:lstStyle/>
          <a:p>
            <a:pPr indent="0" marL="0">
              <a:buNone/>
            </a:pPr>
            <a:r>
              <a:rPr lang="en-US" sz="1600" b="1" dirty="0">
                <a:solidFill>
                  <a:srgbClr val="003087"/>
                </a:solidFill>
                <a:latin typeface="Arial" pitchFamily="34" charset="0"/>
                <a:ea typeface="Arial" pitchFamily="34" charset="-122"/>
                <a:cs typeface="Arial" pitchFamily="34" charset="-120"/>
              </a:rPr>
              <a:t>Icons</a:t>
            </a:r>
            <a:endParaRPr lang="en-US" sz="1600" dirty="0"/>
          </a:p>
        </p:txBody>
      </p:sp>
      <p:sp>
        <p:nvSpPr>
          <p:cNvPr id="8" name="Text 5"/>
          <p:cNvSpPr/>
          <p:nvPr/>
        </p:nvSpPr>
        <p:spPr>
          <a:xfrm>
            <a:off x="822960" y="2606040"/>
            <a:ext cx="2057400" cy="1737360"/>
          </a:xfrm>
          <a:prstGeom prst="rect">
            <a:avLst/>
          </a:prstGeom>
          <a:noFill/>
          <a:ln/>
        </p:spPr>
        <p:txBody>
          <a:bodyPr wrap="square" rtlCol="0" anchor="ctr"/>
          <a:lstStyle/>
          <a:p>
            <a:pPr indent="0" marL="0">
              <a:lnSpc>
                <a:spcPts val="1500"/>
              </a:lnSpc>
              <a:buNone/>
            </a:pPr>
            <a:r>
              <a:rPr lang="en-US" sz="1100" dirty="0">
                <a:solidFill>
                  <a:srgbClr val="11203A"/>
                </a:solidFill>
                <a:latin typeface="Arial" pitchFamily="34" charset="0"/>
                <a:ea typeface="Arial" pitchFamily="34" charset="-122"/>
                <a:cs typeface="Arial" pitchFamily="34" charset="-120"/>
              </a:rPr>
              <a:t>One family only: Lucide line icons. Navy on light, white on navy, Horizon Blue only when clickable. Never filled, never multicolor, never emoji in client documents.</a:t>
            </a:r>
            <a:endParaRPr lang="en-US" sz="1100" dirty="0"/>
          </a:p>
        </p:txBody>
      </p:sp>
      <p:sp>
        <p:nvSpPr>
          <p:cNvPr id="9" name="Shape 6"/>
          <p:cNvSpPr/>
          <p:nvPr/>
        </p:nvSpPr>
        <p:spPr>
          <a:xfrm>
            <a:off x="3337560" y="1280160"/>
            <a:ext cx="2560320" cy="3200400"/>
          </a:xfrm>
          <a:prstGeom prst="roundRect">
            <a:avLst>
              <a:gd name="adj" fmla="val 2857"/>
            </a:avLst>
          </a:prstGeom>
          <a:solidFill>
            <a:srgbClr val="003087"/>
          </a:solidFill>
          <a:ln/>
        </p:spPr>
      </p:sp>
      <p:pic>
        <p:nvPicPr>
          <p:cNvPr id="10" name="Image 1" descr="preencoded.png">    </p:cNvPr>
          <p:cNvPicPr>
            <a:picLocks noChangeAspect="1"/>
          </p:cNvPicPr>
          <p:nvPr/>
        </p:nvPicPr>
        <p:blipFill>
          <a:blip r:embed="rId2"/>
          <a:stretch>
            <a:fillRect/>
          </a:stretch>
        </p:blipFill>
        <p:spPr>
          <a:xfrm>
            <a:off x="3611880" y="1600200"/>
            <a:ext cx="457200" cy="457200"/>
          </a:xfrm>
          <a:prstGeom prst="rect">
            <a:avLst/>
          </a:prstGeom>
        </p:spPr>
      </p:pic>
      <p:sp>
        <p:nvSpPr>
          <p:cNvPr id="11" name="Text 7"/>
          <p:cNvSpPr/>
          <p:nvPr/>
        </p:nvSpPr>
        <p:spPr>
          <a:xfrm>
            <a:off x="3611880" y="2194560"/>
            <a:ext cx="2011680" cy="36576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Layout</a:t>
            </a:r>
            <a:endParaRPr lang="en-US" sz="1600" dirty="0"/>
          </a:p>
        </p:txBody>
      </p:sp>
      <p:sp>
        <p:nvSpPr>
          <p:cNvPr id="12" name="Text 8"/>
          <p:cNvSpPr/>
          <p:nvPr/>
        </p:nvSpPr>
        <p:spPr>
          <a:xfrm>
            <a:off x="3611880" y="2606040"/>
            <a:ext cx="2057400" cy="1737360"/>
          </a:xfrm>
          <a:prstGeom prst="rect">
            <a:avLst/>
          </a:prstGeom>
          <a:noFill/>
          <a:ln/>
        </p:spPr>
        <p:txBody>
          <a:bodyPr wrap="square" rtlCol="0" anchor="ctr"/>
          <a:lstStyle/>
          <a:p>
            <a:pPr indent="0" marL="0">
              <a:lnSpc>
                <a:spcPts val="1500"/>
              </a:lnSpc>
              <a:buNone/>
            </a:pPr>
            <a:r>
              <a:rPr lang="en-US" sz="1100" dirty="0">
                <a:solidFill>
                  <a:srgbClr val="B5D4F4"/>
                </a:solidFill>
                <a:latin typeface="Arial" pitchFamily="34" charset="0"/>
                <a:ea typeface="Arial" pitchFamily="34" charset="-122"/>
                <a:cs typeface="Arial" pitchFamily="34" charset="-120"/>
              </a:rPr>
              <a:t>12-column grid. Minimum 40px margins. One idea per slide. Left-align text; center only short hero lines. White space is a feature. It is 60% of the brand.</a:t>
            </a:r>
            <a:endParaRPr lang="en-US" sz="1100" dirty="0"/>
          </a:p>
        </p:txBody>
      </p:sp>
      <p:sp>
        <p:nvSpPr>
          <p:cNvPr id="13" name="Shape 9"/>
          <p:cNvSpPr/>
          <p:nvPr/>
        </p:nvSpPr>
        <p:spPr>
          <a:xfrm>
            <a:off x="6126480" y="1280160"/>
            <a:ext cx="2560320" cy="3200400"/>
          </a:xfrm>
          <a:prstGeom prst="roundRect">
            <a:avLst>
              <a:gd name="adj" fmla="val 2857"/>
            </a:avLst>
          </a:prstGeom>
          <a:solidFill>
            <a:srgbClr val="FFFFFF"/>
          </a:solidFill>
          <a:ln w="12700">
            <a:solidFill>
              <a:srgbClr val="D9E1EA"/>
            </a:solidFill>
            <a:prstDash val="solid"/>
          </a:ln>
        </p:spPr>
      </p:sp>
      <p:pic>
        <p:nvPicPr>
          <p:cNvPr id="14" name="Image 2" descr="preencoded.png">    </p:cNvPr>
          <p:cNvPicPr>
            <a:picLocks noChangeAspect="1"/>
          </p:cNvPicPr>
          <p:nvPr/>
        </p:nvPicPr>
        <p:blipFill>
          <a:blip r:embed="rId3"/>
          <a:stretch>
            <a:fillRect/>
          </a:stretch>
        </p:blipFill>
        <p:spPr>
          <a:xfrm>
            <a:off x="6400800" y="1600200"/>
            <a:ext cx="457200" cy="457200"/>
          </a:xfrm>
          <a:prstGeom prst="rect">
            <a:avLst/>
          </a:prstGeom>
        </p:spPr>
      </p:pic>
      <p:sp>
        <p:nvSpPr>
          <p:cNvPr id="15" name="Text 10"/>
          <p:cNvSpPr/>
          <p:nvPr/>
        </p:nvSpPr>
        <p:spPr>
          <a:xfrm>
            <a:off x="6400800" y="2194560"/>
            <a:ext cx="2011680" cy="365760"/>
          </a:xfrm>
          <a:prstGeom prst="rect">
            <a:avLst/>
          </a:prstGeom>
          <a:noFill/>
          <a:ln/>
        </p:spPr>
        <p:txBody>
          <a:bodyPr wrap="square" rtlCol="0" anchor="ctr"/>
          <a:lstStyle/>
          <a:p>
            <a:pPr indent="0" marL="0">
              <a:buNone/>
            </a:pPr>
            <a:r>
              <a:rPr lang="en-US" sz="1600" b="1" dirty="0">
                <a:solidFill>
                  <a:srgbClr val="003087"/>
                </a:solidFill>
                <a:latin typeface="Arial" pitchFamily="34" charset="0"/>
                <a:ea typeface="Arial" pitchFamily="34" charset="-122"/>
                <a:cs typeface="Arial" pitchFamily="34" charset="-120"/>
              </a:rPr>
              <a:t>Imagery</a:t>
            </a:r>
            <a:endParaRPr lang="en-US" sz="1600" dirty="0"/>
          </a:p>
        </p:txBody>
      </p:sp>
      <p:sp>
        <p:nvSpPr>
          <p:cNvPr id="16" name="Text 11"/>
          <p:cNvSpPr/>
          <p:nvPr/>
        </p:nvSpPr>
        <p:spPr>
          <a:xfrm>
            <a:off x="6400800" y="2606040"/>
            <a:ext cx="2057400" cy="1737360"/>
          </a:xfrm>
          <a:prstGeom prst="rect">
            <a:avLst/>
          </a:prstGeom>
          <a:noFill/>
          <a:ln/>
        </p:spPr>
        <p:txBody>
          <a:bodyPr wrap="square" rtlCol="0" anchor="ctr"/>
          <a:lstStyle/>
          <a:p>
            <a:pPr indent="0" marL="0">
              <a:lnSpc>
                <a:spcPts val="1500"/>
              </a:lnSpc>
              <a:buNone/>
            </a:pPr>
            <a:r>
              <a:rPr lang="en-US" sz="1100" dirty="0">
                <a:solidFill>
                  <a:srgbClr val="11203A"/>
                </a:solidFill>
                <a:latin typeface="Arial" pitchFamily="34" charset="0"/>
                <a:ea typeface="Arial" pitchFamily="34" charset="-122"/>
                <a:cs typeface="Arial" pitchFamily="34" charset="-120"/>
              </a:rPr>
              <a:t>Real assets first: our trucks, our containers, our team. Stock only when it looks candid and operational, never staged handshake photos. (Full library coming in v1.1.)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Zhenghe Logistics Brand Guidelines v1.0</dc:title>
  <dc:subject>PptxGenJS Presentation</dc:subject>
  <dc:creator>Zhenghe Logistics</dc:creator>
  <cp:lastModifiedBy>Zhenghe Logistics</cp:lastModifiedBy>
  <cp:revision>1</cp:revision>
  <dcterms:created xsi:type="dcterms:W3CDTF">2026-07-07T01:47:07Z</dcterms:created>
  <dcterms:modified xsi:type="dcterms:W3CDTF">2026-07-07T01:47:07Z</dcterms:modified>
</cp:coreProperties>
</file>